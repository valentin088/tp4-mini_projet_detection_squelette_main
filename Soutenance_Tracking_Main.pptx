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A375887-F623-D2FB-DFA2-66976AB20ED1}">
          <p14:sldIdLst>
            <p14:sldId id="256"/>
          </p14:sldIdLst>
        </p14:section>
        <p14:section name="Partie 1 — Présentation" id="{5AF8433D-E5F4-E29A-B6A6-AA894E2AE86C}">
          <p14:sldIdLst>
            <p14:sldId id="257"/>
          </p14:sldIdLst>
        </p14:section>
        <p14:section name="Partie 2 — Méthodologie" id="{ADE9D693-EEBC-85AC-676E-19A348526DD0}">
          <p14:sldIdLst>
            <p14:sldId id="258"/>
            <p14:sldId id="259"/>
            <p14:sldId id="260"/>
          </p14:sldIdLst>
        </p14:section>
        <p14:section name="Partie 3 — Démonstration" id="{87151820-D428-E0C2-2746-1C1CB7D99AB3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9142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75942-B225-467D-8BAF-585E4946D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48DDA9-0C8E-CD17-732F-16CB1BAFF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08205-3F03-6189-90F3-FE5F73FD12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0D2D6-54F5-9E2B-6158-31D4E62280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627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Soutenance TP4 · IUT de Saint-Dié-des-Vosges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body" idx="102" hasCustomPrompt="1"/>
          </p:nvPr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b="1" kern="0" spc="3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2"/>
          <p:cNvSpPr>
            <a:spLocks noGrp="1"/>
          </p:cNvSpPr>
          <p:nvPr>
            <p:ph type="title" idx="103" hasCustomPrompt="1"/>
          </p:nvPr>
        </p:nvSpPr>
        <p:spPr>
          <a:xfrm>
            <a:off x="640080" y="73152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Soutenance TP4 · IUT de Saint-Dié-des-Vosges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body" idx="102" hasCustomPrompt="1"/>
          </p:nvPr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b="1" kern="0" spc="3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2"/>
          <p:cNvSpPr>
            <a:spLocks noGrp="1"/>
          </p:cNvSpPr>
          <p:nvPr>
            <p:ph type="title" idx="103" hasCustomPrompt="1"/>
          </p:nvPr>
        </p:nvSpPr>
        <p:spPr>
          <a:xfrm>
            <a:off x="640080" y="73152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822960" y="1554480"/>
            <a:ext cx="5943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b="1" kern="0" spc="4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822960" y="1965960"/>
            <a:ext cx="612648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822960" y="4343400"/>
            <a:ext cx="5943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822960" y="5669280"/>
            <a:ext cx="6126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accent6"/>
                </a:solidFill>
              </a:defRPr>
            </a:lvl1pPr>
          </a:lstStyle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82296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kern="0" spc="400" noProof="0" dirty="0">
                <a:solidFill>
                  <a:schemeClr val="accent1"/>
                </a:solidFill>
              </a:rPr>
              <a:t>SOUTENANCE MINI-PROJET</a:t>
            </a:r>
            <a:endParaRPr lang="fr-FR" sz="1400" noProof="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822960" y="196596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fr-FR" noProof="0" dirty="0"/>
              <a:t>Estimation du squelette de la main et détection des doigts</a:t>
            </a:r>
            <a:endParaRPr lang="fr-FR" sz="4000" noProof="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822960" y="43434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800" noProof="0" dirty="0">
                <a:solidFill>
                  <a:schemeClr val="accent1"/>
                </a:solidFill>
              </a:rPr>
              <a:t>Réseau de neurones </a:t>
            </a:r>
            <a:r>
              <a:rPr lang="fr-FR" sz="1800" noProof="0" dirty="0" err="1">
                <a:solidFill>
                  <a:schemeClr val="accent1"/>
                </a:solidFill>
              </a:rPr>
              <a:t>MediaPipe</a:t>
            </a:r>
            <a:r>
              <a:rPr lang="fr-FR" sz="1800" noProof="0" dirty="0">
                <a:solidFill>
                  <a:schemeClr val="accent1"/>
                </a:solidFill>
              </a:rPr>
              <a:t> </a:t>
            </a:r>
            <a:r>
              <a:rPr lang="fr-FR" sz="1800" noProof="0" dirty="0" err="1">
                <a:solidFill>
                  <a:schemeClr val="accent1"/>
                </a:solidFill>
              </a:rPr>
              <a:t>Tasks</a:t>
            </a:r>
            <a:r>
              <a:rPr lang="fr-FR" sz="1800" noProof="0" dirty="0">
                <a:solidFill>
                  <a:schemeClr val="accent1"/>
                </a:solidFill>
              </a:rPr>
              <a:t> (Hand </a:t>
            </a:r>
            <a:r>
              <a:rPr lang="fr-FR" sz="1800" noProof="0" dirty="0" err="1">
                <a:solidFill>
                  <a:schemeClr val="accent1"/>
                </a:solidFill>
              </a:rPr>
              <a:t>Landmarker</a:t>
            </a:r>
            <a:r>
              <a:rPr lang="fr-FR" sz="1800" noProof="0" dirty="0">
                <a:solidFill>
                  <a:schemeClr val="accent1"/>
                </a:solidFill>
              </a:rPr>
              <a:t>) • </a:t>
            </a:r>
            <a:r>
              <a:rPr lang="fr-FR" sz="1800" noProof="0" dirty="0" err="1">
                <a:solidFill>
                  <a:schemeClr val="accent1"/>
                </a:solidFill>
              </a:rPr>
              <a:t>OpenCV</a:t>
            </a:r>
            <a:r>
              <a:rPr lang="fr-FR" sz="1800" noProof="0" dirty="0">
                <a:solidFill>
                  <a:schemeClr val="accent1"/>
                </a:solidFill>
              </a:rPr>
              <a:t> &amp; Python</a:t>
            </a:r>
            <a:endParaRPr lang="fr-FR" sz="1800" noProof="0" dirty="0"/>
          </a:p>
        </p:txBody>
      </p:sp>
      <p:sp>
        <p:nvSpPr>
          <p:cNvPr id="5" name="Text 1"/>
          <p:cNvSpPr>
            <a:spLocks noGrp="1"/>
          </p:cNvSpPr>
          <p:nvPr>
            <p:ph type="body" idx="104" hasCustomPrompt="1"/>
          </p:nvPr>
        </p:nvSpPr>
        <p:spPr>
          <a:xfrm>
            <a:off x="822960" y="5669280"/>
            <a:ext cx="33159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noProof="0" dirty="0">
                <a:solidFill>
                  <a:schemeClr val="accent6"/>
                </a:solidFill>
              </a:rPr>
              <a:t>Présenté par </a:t>
            </a:r>
            <a:r>
              <a:rPr lang="fr-FR" noProof="0" dirty="0"/>
              <a:t>HOJA Valentin &amp; HOFF Rafaël</a:t>
            </a:r>
            <a:r>
              <a:rPr lang="fr-FR" sz="1400" noProof="0" dirty="0">
                <a:solidFill>
                  <a:schemeClr val="accent6"/>
                </a:solidFill>
              </a:rPr>
              <a:t> | </a:t>
            </a:r>
            <a:endParaRPr lang="fr-FR" sz="1400" noProof="0" dirty="0"/>
          </a:p>
        </p:txBody>
      </p:sp>
      <p:pic>
        <p:nvPicPr>
          <p:cNvPr id="6" name="Illustration main squelette" descr="Squelette de main à 21 repères avec effet de proximité entre l'index et le maj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85800"/>
            <a:ext cx="4389120" cy="54864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4B3B3F1-866E-80D9-489C-74F39C539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863" y="5519384"/>
            <a:ext cx="3683189" cy="6985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kern="0" spc="300" noProof="0" dirty="0">
                <a:solidFill>
                  <a:schemeClr val="accent4"/>
                </a:solidFill>
              </a:rPr>
              <a:t>PARTIE 1 — </a:t>
            </a:r>
            <a:r>
              <a:rPr lang="fr-FR" noProof="0" dirty="0"/>
              <a:t>PRÉSENTATION &amp; CONTEXTE</a:t>
            </a:r>
            <a:endParaRPr lang="fr-FR" sz="1200" noProof="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640080" y="7315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3600" b="1" noProof="0" dirty="0">
                <a:solidFill>
                  <a:schemeClr val="tx1"/>
                </a:solidFill>
              </a:rPr>
              <a:t>Présentation de l'application &amp; contexte</a:t>
            </a:r>
            <a:endParaRPr lang="fr-FR" sz="3600" noProof="0" dirty="0"/>
          </a:p>
        </p:txBody>
      </p:sp>
      <p:sp>
        <p:nvSpPr>
          <p:cNvPr id="4" name="Carte Contexte du projet"/>
          <p:cNvSpPr/>
          <p:nvPr/>
        </p:nvSpPr>
        <p:spPr>
          <a:xfrm>
            <a:off x="640080" y="1828800"/>
            <a:ext cx="667512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Pastille Contexte du projet"/>
          <p:cNvSpPr/>
          <p:nvPr/>
        </p:nvSpPr>
        <p:spPr>
          <a:xfrm>
            <a:off x="960120" y="21488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6" name="Icône Contexte du projet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23088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2103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chemeClr val="tx1"/>
                </a:solidFill>
              </a:rPr>
              <a:t>Contexte du projet</a:t>
            </a:r>
            <a:endParaRPr lang="fr-FR" sz="2000" noProof="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60604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600" noProof="0" dirty="0">
                <a:solidFill>
                  <a:schemeClr val="tx2"/>
                </a:solidFill>
              </a:rPr>
              <a:t>Application Python qui capture le flux de la webcam en temps réel, analyse la structure anatomique des mains, compte les doigts levés et génère un effet visuel de proximité.</a:t>
            </a:r>
            <a:endParaRPr lang="fr-FR" sz="1600" noProof="0" dirty="0"/>
          </a:p>
        </p:txBody>
      </p:sp>
      <p:sp>
        <p:nvSpPr>
          <p:cNvPr id="9" name="Carte Approche technique"/>
          <p:cNvSpPr/>
          <p:nvPr/>
        </p:nvSpPr>
        <p:spPr>
          <a:xfrm>
            <a:off x="640080" y="4206240"/>
            <a:ext cx="667512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Pastille Approche technique"/>
          <p:cNvSpPr/>
          <p:nvPr/>
        </p:nvSpPr>
        <p:spPr>
          <a:xfrm>
            <a:off x="960120" y="452628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1" name="Icône Approche techniqu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" y="46863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74520" y="44805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chemeClr val="tx1"/>
                </a:solidFill>
              </a:rPr>
              <a:t>Approche technique</a:t>
            </a:r>
            <a:endParaRPr lang="fr-FR" sz="2000" noProof="0" dirty="0"/>
          </a:p>
        </p:txBody>
      </p:sp>
      <p:sp>
        <p:nvSpPr>
          <p:cNvPr id="13" name="Text 9"/>
          <p:cNvSpPr txBox="1"/>
          <p:nvPr/>
        </p:nvSpPr>
        <p:spPr>
          <a:xfrm>
            <a:off x="1874520" y="498348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600" noProof="0" dirty="0">
                <a:solidFill>
                  <a:schemeClr val="tx2"/>
                </a:solidFill>
              </a:rPr>
              <a:t>API </a:t>
            </a:r>
            <a:r>
              <a:rPr lang="fr-FR" sz="1600" noProof="0" dirty="0" err="1">
                <a:solidFill>
                  <a:schemeClr val="tx2"/>
                </a:solidFill>
              </a:rPr>
              <a:t>MediaPipe</a:t>
            </a:r>
            <a:r>
              <a:rPr lang="fr-FR" sz="1600" noProof="0" dirty="0">
                <a:solidFill>
                  <a:schemeClr val="tx2"/>
                </a:solidFill>
              </a:rPr>
              <a:t> </a:t>
            </a:r>
            <a:r>
              <a:rPr lang="fr-FR" sz="1600" noProof="0" dirty="0" err="1">
                <a:solidFill>
                  <a:schemeClr val="tx2"/>
                </a:solidFill>
              </a:rPr>
              <a:t>Tasks</a:t>
            </a:r>
            <a:r>
              <a:rPr lang="fr-FR" sz="1600" noProof="0" dirty="0">
                <a:solidFill>
                  <a:schemeClr val="tx2"/>
                </a:solidFill>
              </a:rPr>
              <a:t> (Hand </a:t>
            </a:r>
            <a:r>
              <a:rPr lang="fr-FR" sz="1600" noProof="0" dirty="0" err="1">
                <a:solidFill>
                  <a:schemeClr val="tx2"/>
                </a:solidFill>
              </a:rPr>
              <a:t>Landmarker</a:t>
            </a:r>
            <a:r>
              <a:rPr lang="fr-FR" sz="1600" noProof="0" dirty="0">
                <a:solidFill>
                  <a:schemeClr val="tx2"/>
                </a:solidFill>
              </a:rPr>
              <a:t>) : un réseau de neurones pré-entraîné (</a:t>
            </a:r>
            <a:r>
              <a:rPr lang="fr-FR" sz="1600" noProof="0" dirty="0" err="1">
                <a:solidFill>
                  <a:schemeClr val="tx2"/>
                </a:solidFill>
              </a:rPr>
              <a:t>hand_landmarker.task</a:t>
            </a:r>
            <a:r>
              <a:rPr lang="fr-FR" sz="1600" noProof="0" dirty="0">
                <a:solidFill>
                  <a:schemeClr val="tx2"/>
                </a:solidFill>
              </a:rPr>
              <a:t>) prédit les repères de la main. </a:t>
            </a:r>
            <a:r>
              <a:rPr lang="fr-FR" sz="1600" noProof="0" dirty="0" err="1">
                <a:solidFill>
                  <a:schemeClr val="tx2"/>
                </a:solidFill>
              </a:rPr>
              <a:t>OpenCV</a:t>
            </a:r>
            <a:r>
              <a:rPr lang="fr-FR" sz="1600" noProof="0" dirty="0">
                <a:solidFill>
                  <a:schemeClr val="tx2"/>
                </a:solidFill>
              </a:rPr>
              <a:t> gère la capture et le dessin, </a:t>
            </a:r>
            <a:r>
              <a:rPr lang="fr-FR" sz="1600" noProof="0" dirty="0" err="1">
                <a:solidFill>
                  <a:schemeClr val="tx2"/>
                </a:solidFill>
              </a:rPr>
              <a:t>NumPy</a:t>
            </a:r>
            <a:r>
              <a:rPr lang="fr-FR" sz="1600" noProof="0" dirty="0">
                <a:solidFill>
                  <a:schemeClr val="tx2"/>
                </a:solidFill>
              </a:rPr>
              <a:t> les calculs.</a:t>
            </a:r>
            <a:endParaRPr lang="fr-FR" sz="1600" noProof="0" dirty="0"/>
          </a:p>
        </p:txBody>
      </p:sp>
      <p:sp>
        <p:nvSpPr>
          <p:cNvPr id="14" name="Carte objectifs"/>
          <p:cNvSpPr/>
          <p:nvPr/>
        </p:nvSpPr>
        <p:spPr>
          <a:xfrm>
            <a:off x="7589520" y="1828800"/>
            <a:ext cx="3959352" cy="4389120"/>
          </a:xfrm>
          <a:prstGeom prst="roundRect">
            <a:avLst>
              <a:gd name="adj" fmla="val 2771"/>
            </a:avLst>
          </a:prstGeom>
          <a:solidFill>
            <a:schemeClr val="tx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1"/>
          <p:cNvSpPr txBox="1"/>
          <p:nvPr/>
        </p:nvSpPr>
        <p:spPr>
          <a:xfrm>
            <a:off x="7909560" y="2103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chemeClr val="bg1"/>
                </a:solidFill>
              </a:rPr>
              <a:t>Objectifs clés</a:t>
            </a:r>
            <a:endParaRPr lang="fr-FR" sz="2200" noProof="0" dirty="0"/>
          </a:p>
        </p:txBody>
      </p:sp>
      <p:sp>
        <p:nvSpPr>
          <p:cNvPr id="16" name="Pastille objectif 1"/>
          <p:cNvSpPr/>
          <p:nvPr/>
        </p:nvSpPr>
        <p:spPr>
          <a:xfrm>
            <a:off x="7909560" y="2880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7" name="Icône objectif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3017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86800" y="2788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600" noProof="0" dirty="0" err="1">
                <a:solidFill>
                  <a:schemeClr val="bg1"/>
                </a:solidFill>
              </a:rPr>
              <a:t>Tracking</a:t>
            </a:r>
            <a:r>
              <a:rPr lang="fr-FR" sz="1600" noProof="0" dirty="0">
                <a:solidFill>
                  <a:schemeClr val="bg1"/>
                </a:solidFill>
              </a:rPr>
              <a:t> temps réel fluide, avec retour miroir</a:t>
            </a:r>
            <a:endParaRPr lang="fr-FR" sz="1600" noProof="0" dirty="0"/>
          </a:p>
        </p:txBody>
      </p:sp>
      <p:sp>
        <p:nvSpPr>
          <p:cNvPr id="19" name="Pastille objectif 2"/>
          <p:cNvSpPr/>
          <p:nvPr/>
        </p:nvSpPr>
        <p:spPr>
          <a:xfrm>
            <a:off x="7909560" y="3977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20" name="Icône objectif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11480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686800" y="38862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600" noProof="0" dirty="0">
                <a:solidFill>
                  <a:schemeClr val="bg1"/>
                </a:solidFill>
              </a:rPr>
              <a:t>Détection simultanée de 2 mains</a:t>
            </a:r>
            <a:endParaRPr lang="fr-FR" sz="1600" noProof="0" dirty="0"/>
          </a:p>
        </p:txBody>
      </p:sp>
      <p:sp>
        <p:nvSpPr>
          <p:cNvPr id="22" name="Pastille objectif 3"/>
          <p:cNvSpPr/>
          <p:nvPr/>
        </p:nvSpPr>
        <p:spPr>
          <a:xfrm>
            <a:off x="7909560" y="5074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23" name="Icône objectif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52120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686800" y="498348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600" noProof="0" dirty="0">
                <a:solidFill>
                  <a:schemeClr val="bg1"/>
                </a:solidFill>
              </a:rPr>
              <a:t>Squelette à 21 repères, comptage des doigts et effet de proximité</a:t>
            </a:r>
            <a:endParaRPr lang="fr-FR" sz="16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fr-FR" b="0" noProof="0" smtClean="0"/>
              <a:t>2</a:t>
            </a:fld>
            <a:endParaRPr lang="fr-FR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kern="0" spc="300" noProof="0" dirty="0">
                <a:solidFill>
                  <a:schemeClr val="accent4"/>
                </a:solidFill>
              </a:rPr>
              <a:t>PARTIE 2 — MÉTHODOLOGIE</a:t>
            </a:r>
            <a:endParaRPr lang="fr-FR" sz="1200" noProof="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640080" y="7315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3600" b="1" noProof="0" dirty="0">
                <a:solidFill>
                  <a:schemeClr val="tx1"/>
                </a:solidFill>
              </a:rPr>
              <a:t>Méthodologie : détection </a:t>
            </a:r>
            <a:r>
              <a:rPr lang="fr-FR" sz="3600" b="1" noProof="0" dirty="0" err="1">
                <a:solidFill>
                  <a:schemeClr val="tx1"/>
                </a:solidFill>
              </a:rPr>
              <a:t>MediaPipe</a:t>
            </a:r>
            <a:r>
              <a:rPr lang="fr-FR" sz="3600" b="1" noProof="0" dirty="0">
                <a:solidFill>
                  <a:schemeClr val="tx1"/>
                </a:solidFill>
              </a:rPr>
              <a:t> </a:t>
            </a:r>
            <a:r>
              <a:rPr lang="fr-FR" sz="3600" b="1" noProof="0" dirty="0" err="1">
                <a:solidFill>
                  <a:schemeClr val="tx1"/>
                </a:solidFill>
              </a:rPr>
              <a:t>Tasks</a:t>
            </a:r>
            <a:endParaRPr lang="fr-FR" sz="3600" noProof="0" dirty="0"/>
          </a:p>
        </p:txBody>
      </p:sp>
      <p:sp>
        <p:nvSpPr>
          <p:cNvPr id="4" name="Carte étape 1"/>
          <p:cNvSpPr/>
          <p:nvPr/>
        </p:nvSpPr>
        <p:spPr>
          <a:xfrm>
            <a:off x="640080" y="1828800"/>
            <a:ext cx="3429000" cy="438912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Pastille 1"/>
          <p:cNvSpPr/>
          <p:nvPr/>
        </p:nvSpPr>
        <p:spPr>
          <a:xfrm>
            <a:off x="960120" y="21488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6" name="Numéro 1"/>
          <p:cNvSpPr txBox="1"/>
          <p:nvPr/>
        </p:nvSpPr>
        <p:spPr>
          <a:xfrm>
            <a:off x="96012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FR" sz="24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9718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800" b="1" noProof="0" dirty="0">
                <a:solidFill>
                  <a:schemeClr val="tx1"/>
                </a:solidFill>
              </a:rPr>
              <a:t>Initialisation du Hand </a:t>
            </a:r>
            <a:r>
              <a:rPr lang="fr-FR" sz="1800" b="1" noProof="0" dirty="0" err="1">
                <a:solidFill>
                  <a:schemeClr val="tx1"/>
                </a:solidFill>
              </a:rPr>
              <a:t>Landmarker</a:t>
            </a:r>
            <a:endParaRPr lang="fr-FR" sz="18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93192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500" noProof="0" dirty="0">
                <a:solidFill>
                  <a:schemeClr val="tx2"/>
                </a:solidFill>
              </a:rPr>
              <a:t>Chargement du modèle </a:t>
            </a:r>
            <a:r>
              <a:rPr lang="fr-FR" sz="1500" noProof="0" dirty="0" err="1">
                <a:solidFill>
                  <a:schemeClr val="tx2"/>
                </a:solidFill>
              </a:rPr>
              <a:t>hand_landmarker.task</a:t>
            </a:r>
            <a:r>
              <a:rPr lang="fr-FR" sz="1500" noProof="0" dirty="0">
                <a:solidFill>
                  <a:schemeClr val="tx2"/>
                </a:solidFill>
              </a:rPr>
              <a:t> via </a:t>
            </a:r>
            <a:r>
              <a:rPr lang="fr-FR" sz="1500" noProof="0" dirty="0" err="1">
                <a:solidFill>
                  <a:schemeClr val="tx2"/>
                </a:solidFill>
              </a:rPr>
              <a:t>BaseOptions</a:t>
            </a:r>
            <a:r>
              <a:rPr lang="fr-FR" sz="1500" noProof="0" dirty="0">
                <a:solidFill>
                  <a:schemeClr val="tx2"/>
                </a:solidFill>
              </a:rPr>
              <a:t>. Paramètres : 2 mains maximum, confiance de détection ≥ 0,7 et confiance de suivi ≥ 0,5.</a:t>
            </a:r>
            <a:endParaRPr lang="fr-FR" sz="1500" noProof="0" dirty="0"/>
          </a:p>
        </p:txBody>
      </p:sp>
      <p:sp>
        <p:nvSpPr>
          <p:cNvPr id="9" name="Carte étape 2"/>
          <p:cNvSpPr/>
          <p:nvPr/>
        </p:nvSpPr>
        <p:spPr>
          <a:xfrm>
            <a:off x="4379976" y="1828800"/>
            <a:ext cx="3429000" cy="438912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Pastille 2"/>
          <p:cNvSpPr/>
          <p:nvPr/>
        </p:nvSpPr>
        <p:spPr>
          <a:xfrm>
            <a:off x="4700016" y="21488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Numéro 2"/>
          <p:cNvSpPr txBox="1"/>
          <p:nvPr/>
        </p:nvSpPr>
        <p:spPr>
          <a:xfrm>
            <a:off x="4700016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FR" sz="24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4700016" y="29718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800" b="1" noProof="0" dirty="0">
                <a:solidFill>
                  <a:schemeClr val="tx1"/>
                </a:solidFill>
              </a:rPr>
              <a:t>Acquisition &amp; préparation du flux</a:t>
            </a:r>
            <a:endParaRPr lang="fr-FR" sz="18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393192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500" noProof="0" dirty="0">
                <a:solidFill>
                  <a:schemeClr val="tx2"/>
                </a:solidFill>
              </a:rPr>
              <a:t>Capture webcam avec </a:t>
            </a:r>
            <a:r>
              <a:rPr lang="fr-FR" sz="1500" noProof="0" dirty="0" err="1">
                <a:solidFill>
                  <a:schemeClr val="tx2"/>
                </a:solidFill>
              </a:rPr>
              <a:t>OpenCV</a:t>
            </a:r>
            <a:r>
              <a:rPr lang="fr-FR" sz="1500" noProof="0" dirty="0">
                <a:solidFill>
                  <a:schemeClr val="tx2"/>
                </a:solidFill>
              </a:rPr>
              <a:t> et retour miroir (cv2.flip). Conversion BGR → RGB, puis encapsulation dans </a:t>
            </a:r>
            <a:r>
              <a:rPr lang="fr-FR" sz="1500" noProof="0" dirty="0" err="1">
                <a:solidFill>
                  <a:schemeClr val="tx2"/>
                </a:solidFill>
              </a:rPr>
              <a:t>mp.Image</a:t>
            </a:r>
            <a:r>
              <a:rPr lang="fr-FR" sz="1500" noProof="0" dirty="0">
                <a:solidFill>
                  <a:schemeClr val="tx2"/>
                </a:solidFill>
              </a:rPr>
              <a:t> avant l'inférence du réseau de neurones.</a:t>
            </a:r>
            <a:endParaRPr lang="fr-FR" sz="1500" noProof="0" dirty="0"/>
          </a:p>
        </p:txBody>
      </p:sp>
      <p:sp>
        <p:nvSpPr>
          <p:cNvPr id="14" name="Carte étape 3"/>
          <p:cNvSpPr/>
          <p:nvPr/>
        </p:nvSpPr>
        <p:spPr>
          <a:xfrm>
            <a:off x="8119872" y="1828800"/>
            <a:ext cx="3429000" cy="438912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Pastille 3"/>
          <p:cNvSpPr/>
          <p:nvPr/>
        </p:nvSpPr>
        <p:spPr>
          <a:xfrm>
            <a:off x="8439912" y="21488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Numéro 3"/>
          <p:cNvSpPr txBox="1"/>
          <p:nvPr/>
        </p:nvSpPr>
        <p:spPr>
          <a:xfrm>
            <a:off x="8439912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FR" sz="24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8439912" y="29718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800" b="1" noProof="0" dirty="0">
                <a:solidFill>
                  <a:schemeClr val="tx1"/>
                </a:solidFill>
              </a:rPr>
              <a:t>Sortie du réseau : 21 repères par main</a:t>
            </a:r>
            <a:endParaRPr lang="fr-FR" sz="1800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8439912" y="393192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fr-FR" sz="1500" noProof="0" dirty="0">
                <a:solidFill>
                  <a:schemeClr val="tx2"/>
                </a:solidFill>
              </a:rPr>
              <a:t>Coordonnées normalisées (x, y) de chaque repère, converties en pixels selon la largeur et la hauteur de l'image.</a:t>
            </a:r>
            <a:endParaRPr lang="fr-FR" sz="15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fr-FR" sz="1500" noProof="0" dirty="0">
                <a:solidFill>
                  <a:schemeClr val="tx2"/>
                </a:solidFill>
              </a:rPr>
              <a:t>Latéralité (Left / Right) fournie pour chaque main détectée.</a:t>
            </a:r>
            <a:endParaRPr lang="fr-FR" sz="15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fr-FR" b="0" noProof="0" smtClean="0"/>
              <a:t>3</a:t>
            </a:fld>
            <a:endParaRPr lang="fr-FR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kern="0" spc="300" noProof="0" dirty="0">
                <a:solidFill>
                  <a:schemeClr val="accent4"/>
                </a:solidFill>
              </a:rPr>
              <a:t>PARTIE 2 — MÉTHODOLOGIE</a:t>
            </a:r>
            <a:endParaRPr lang="fr-FR" sz="1200" noProof="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640080" y="7315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3600" b="1" noProof="0" dirty="0">
                <a:solidFill>
                  <a:schemeClr val="tx1"/>
                </a:solidFill>
              </a:rPr>
              <a:t>Méthodologie : squelette &amp; comptage des doigts</a:t>
            </a:r>
            <a:endParaRPr lang="fr-FR" sz="3600" noProof="0" dirty="0"/>
          </a:p>
        </p:txBody>
      </p:sp>
      <p:sp>
        <p:nvSpPr>
          <p:cNvPr id="4" name="Carte étape 1"/>
          <p:cNvSpPr/>
          <p:nvPr/>
        </p:nvSpPr>
        <p:spPr>
          <a:xfrm>
            <a:off x="640080" y="1828800"/>
            <a:ext cx="70408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Pastille 1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6" name="Numéro 1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FR" sz="20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38528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chemeClr val="tx1"/>
                </a:solidFill>
              </a:rPr>
              <a:t>Tracé du squelette</a:t>
            </a:r>
            <a:endParaRPr lang="fr-FR" sz="18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304288"/>
            <a:ext cx="5715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noProof="0" dirty="0">
                <a:solidFill>
                  <a:schemeClr val="tx2"/>
                </a:solidFill>
              </a:rPr>
              <a:t>Liste de connexions (HAND_CONNECTIONS) reliant les 21 repères : pouce, index, majeur, annulaire, auriculaire et paume. Lignes vertes (cv2.line) et points rouges (cv2.circle).</a:t>
            </a:r>
            <a:endParaRPr lang="fr-FR" sz="1400" noProof="0" dirty="0"/>
          </a:p>
        </p:txBody>
      </p:sp>
      <p:sp>
        <p:nvSpPr>
          <p:cNvPr id="9" name="Carte étape 2"/>
          <p:cNvSpPr/>
          <p:nvPr/>
        </p:nvSpPr>
        <p:spPr>
          <a:xfrm>
            <a:off x="640080" y="3383280"/>
            <a:ext cx="70408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Pastille 2"/>
          <p:cNvSpPr/>
          <p:nvPr/>
        </p:nvSpPr>
        <p:spPr>
          <a:xfrm>
            <a:off x="914400" y="37490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Numéro 2"/>
          <p:cNvSpPr txBox="1"/>
          <p:nvPr/>
        </p:nvSpPr>
        <p:spPr>
          <a:xfrm>
            <a:off x="9144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FR" sz="20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93008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chemeClr val="tx1"/>
                </a:solidFill>
              </a:rPr>
              <a:t>Comptage du pouce</a:t>
            </a:r>
            <a:endParaRPr lang="fr-FR" sz="18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858768"/>
            <a:ext cx="5715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noProof="0" dirty="0">
                <a:solidFill>
                  <a:schemeClr val="tx2"/>
                </a:solidFill>
              </a:rPr>
              <a:t>Comparaison sur l'axe X entre la pointe (repère 4) et l'articulation (repère 3), adaptée à la latéralité Left / Right et compensée par l'effet miroir.</a:t>
            </a:r>
            <a:endParaRPr lang="fr-FR" sz="1400" noProof="0" dirty="0"/>
          </a:p>
        </p:txBody>
      </p:sp>
      <p:sp>
        <p:nvSpPr>
          <p:cNvPr id="14" name="Carte étape 3"/>
          <p:cNvSpPr/>
          <p:nvPr/>
        </p:nvSpPr>
        <p:spPr>
          <a:xfrm>
            <a:off x="640080" y="4937760"/>
            <a:ext cx="70408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Pastille 3"/>
          <p:cNvSpPr/>
          <p:nvPr/>
        </p:nvSpPr>
        <p:spPr>
          <a:xfrm>
            <a:off x="914400" y="53035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Numéro 3"/>
          <p:cNvSpPr txBox="1"/>
          <p:nvPr/>
        </p:nvSpPr>
        <p:spPr>
          <a:xfrm>
            <a:off x="914400" y="5303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FR" sz="20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5047488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chemeClr val="tx1"/>
                </a:solidFill>
              </a:rPr>
              <a:t>Comptage des autres doigts</a:t>
            </a:r>
            <a:endParaRPr lang="fr-FR" sz="1800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5413248"/>
            <a:ext cx="5715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noProof="0" dirty="0">
                <a:solidFill>
                  <a:schemeClr val="tx2"/>
                </a:solidFill>
              </a:rPr>
              <a:t>Comparaison sur l'axe Y : un doigt est levé si sa pointe (8, 12, 16, 20) est plus haute que son articulation inférieure (tip − 2). Total affiché en direct.</a:t>
            </a:r>
            <a:endParaRPr lang="fr-FR" sz="1400" noProof="0" dirty="0"/>
          </a:p>
        </p:txBody>
      </p:sp>
      <p:sp>
        <p:nvSpPr>
          <p:cNvPr id="19" name="Carte illustration"/>
          <p:cNvSpPr/>
          <p:nvPr/>
        </p:nvSpPr>
        <p:spPr>
          <a:xfrm>
            <a:off x="7955280" y="1828800"/>
            <a:ext cx="3593592" cy="4389120"/>
          </a:xfrm>
          <a:prstGeom prst="roundRect">
            <a:avLst>
              <a:gd name="adj" fmla="val 3053"/>
            </a:avLst>
          </a:prstGeom>
          <a:solidFill>
            <a:schemeClr val="tx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20" name="Illustration des 21 repères" descr="Squelette de main avec les 21 repères numérotés de 0 à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2103120"/>
            <a:ext cx="310896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fr-FR" b="0" noProof="0" smtClean="0"/>
              <a:t>4</a:t>
            </a:fld>
            <a:endParaRPr lang="fr-FR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kern="0" spc="300" noProof="0" dirty="0">
                <a:solidFill>
                  <a:schemeClr val="accent4"/>
                </a:solidFill>
              </a:rPr>
              <a:t>PARTIE 2 — MÉTHODOLOGIE</a:t>
            </a:r>
            <a:endParaRPr lang="fr-FR" sz="1200" noProof="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640080" y="7315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3600" b="1" noProof="0" dirty="0">
                <a:solidFill>
                  <a:schemeClr val="tx1"/>
                </a:solidFill>
              </a:rPr>
              <a:t>Effet visuel de proximité entre extrémités</a:t>
            </a:r>
            <a:endParaRPr lang="fr-FR" sz="3600" noProof="0" dirty="0"/>
          </a:p>
        </p:txBody>
      </p:sp>
      <p:sp>
        <p:nvSpPr>
          <p:cNvPr id="4" name="Carte comparaison"/>
          <p:cNvSpPr/>
          <p:nvPr/>
        </p:nvSpPr>
        <p:spPr>
          <a:xfrm>
            <a:off x="640080" y="1828800"/>
            <a:ext cx="539496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Pastille 1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6" name="Numéro 1"/>
          <p:cNvSpPr txBox="1"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FR" sz="24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1031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chemeClr val="tx1"/>
                </a:solidFill>
              </a:rPr>
              <a:t>Comparaison des bouts de doigts</a:t>
            </a:r>
            <a:endParaRPr lang="fr-FR" sz="18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17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500" noProof="0" dirty="0">
                <a:solidFill>
                  <a:schemeClr val="tx2"/>
                </a:solidFill>
              </a:rPr>
              <a:t>Les 5 extrémités (repères 4, 8, 12, 16, 20) sont comparées deux à deux. Distance euclidienne entre les deux sommets, en pixels (</a:t>
            </a:r>
            <a:r>
              <a:rPr lang="fr-FR" sz="1500" noProof="0" dirty="0" err="1">
                <a:solidFill>
                  <a:schemeClr val="tx2"/>
                </a:solidFill>
              </a:rPr>
              <a:t>math.hypot</a:t>
            </a:r>
            <a:r>
              <a:rPr lang="fr-FR" sz="1500" noProof="0" dirty="0">
                <a:solidFill>
                  <a:schemeClr val="tx2"/>
                </a:solidFill>
              </a:rPr>
              <a:t>).</a:t>
            </a:r>
            <a:endParaRPr lang="fr-FR" sz="1500" noProof="0" dirty="0"/>
          </a:p>
        </p:txBody>
      </p:sp>
      <p:sp>
        <p:nvSpPr>
          <p:cNvPr id="9" name="Pastille formule"/>
          <p:cNvSpPr/>
          <p:nvPr/>
        </p:nvSpPr>
        <p:spPr>
          <a:xfrm>
            <a:off x="914400" y="4069080"/>
            <a:ext cx="4846320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069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= √(dx² + </a:t>
            </a:r>
            <a:r>
              <a:rPr lang="fr-FR" sz="2200" b="1" noProof="0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</a:t>
            </a:r>
            <a:r>
              <a:rPr lang="fr-FR" sz="22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²)</a:t>
            </a:r>
            <a:endParaRPr lang="fr-FR" sz="2200" noProof="0" dirty="0"/>
          </a:p>
        </p:txBody>
      </p:sp>
      <p:sp>
        <p:nvSpPr>
          <p:cNvPr id="11" name="Stat 65 px"/>
          <p:cNvSpPr/>
          <p:nvPr/>
        </p:nvSpPr>
        <p:spPr>
          <a:xfrm>
            <a:off x="914400" y="4846320"/>
            <a:ext cx="23317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892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 px</a:t>
            </a:r>
            <a:endParaRPr lang="fr-FR" sz="32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440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noProof="0" dirty="0">
                <a:solidFill>
                  <a:schemeClr val="tx2"/>
                </a:solidFill>
              </a:rPr>
              <a:t>seuil de déclenchement</a:t>
            </a:r>
            <a:endParaRPr lang="fr-FR" sz="1300" noProof="0" dirty="0"/>
          </a:p>
        </p:txBody>
      </p:sp>
      <p:sp>
        <p:nvSpPr>
          <p:cNvPr id="14" name="Stat 10"/>
          <p:cNvSpPr/>
          <p:nvPr/>
        </p:nvSpPr>
        <p:spPr>
          <a:xfrm>
            <a:off x="3429000" y="4846320"/>
            <a:ext cx="23317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4892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fr-FR" sz="32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5440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noProof="0" dirty="0">
                <a:solidFill>
                  <a:schemeClr val="tx2"/>
                </a:solidFill>
              </a:rPr>
              <a:t>paires de doigts comparées</a:t>
            </a:r>
            <a:endParaRPr lang="fr-FR" sz="1300" noProof="0" dirty="0"/>
          </a:p>
        </p:txBody>
      </p:sp>
      <p:sp>
        <p:nvSpPr>
          <p:cNvPr id="17" name="Carte trait dynamique"/>
          <p:cNvSpPr/>
          <p:nvPr/>
        </p:nvSpPr>
        <p:spPr>
          <a:xfrm>
            <a:off x="6309360" y="1828800"/>
            <a:ext cx="523951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Pastille 2"/>
          <p:cNvSpPr/>
          <p:nvPr/>
        </p:nvSpPr>
        <p:spPr>
          <a:xfrm>
            <a:off x="6583680" y="21031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Numéro 2"/>
          <p:cNvSpPr txBox="1"/>
          <p:nvPr/>
        </p:nvSpPr>
        <p:spPr>
          <a:xfrm>
            <a:off x="65836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FR" sz="2400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2011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chemeClr val="tx1"/>
                </a:solidFill>
              </a:rPr>
              <a:t>Trait &amp; point d'impact dynamiques</a:t>
            </a:r>
            <a:endParaRPr lang="fr-FR" sz="180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24688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noProof="0" dirty="0">
                <a:solidFill>
                  <a:schemeClr val="tx2"/>
                </a:solidFill>
              </a:rPr>
              <a:t>Interpolation linéaire (</a:t>
            </a:r>
            <a:r>
              <a:rPr lang="fr-FR" sz="1400" noProof="0" dirty="0" err="1">
                <a:solidFill>
                  <a:schemeClr val="tx2"/>
                </a:solidFill>
              </a:rPr>
              <a:t>np.interp</a:t>
            </a:r>
            <a:r>
              <a:rPr lang="fr-FR" sz="1400" noProof="0" dirty="0">
                <a:solidFill>
                  <a:schemeClr val="tx2"/>
                </a:solidFill>
              </a:rPr>
              <a:t>) de l'épaisseur du trait (8 → 2 px) et du rayon du point d'impact (16 → 4 px).</a:t>
            </a:r>
            <a:endParaRPr lang="fr-FR" sz="1400" noProof="0" dirty="0"/>
          </a:p>
        </p:txBody>
      </p:sp>
      <p:sp>
        <p:nvSpPr>
          <p:cNvPr id="22" name="Carte couleur"/>
          <p:cNvSpPr/>
          <p:nvPr/>
        </p:nvSpPr>
        <p:spPr>
          <a:xfrm>
            <a:off x="6309360" y="3749040"/>
            <a:ext cx="5239512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Pastille 3"/>
          <p:cNvSpPr/>
          <p:nvPr/>
        </p:nvSpPr>
        <p:spPr>
          <a:xfrm>
            <a:off x="6583680" y="39776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Numéro 3"/>
          <p:cNvSpPr txBox="1"/>
          <p:nvPr/>
        </p:nvSpPr>
        <p:spPr>
          <a:xfrm>
            <a:off x="658368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FR" sz="2000" noProof="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3977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chemeClr val="tx1"/>
                </a:solidFill>
              </a:rPr>
              <a:t>Transition de couleur BGR</a:t>
            </a:r>
            <a:endParaRPr lang="fr-FR" sz="1800" noProof="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4663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400" noProof="0" dirty="0">
                <a:solidFill>
                  <a:schemeClr val="tx2"/>
                </a:solidFill>
              </a:rPr>
              <a:t>Couleur calculée selon le ratio distance / seuil : du vert (éloignés) au rouge (contact).</a:t>
            </a:r>
            <a:endParaRPr lang="fr-FR" sz="1400" noProof="0" dirty="0"/>
          </a:p>
          <a:p>
            <a:pPr marL="342900" indent="-342900">
              <a:buSzPct val="100000"/>
              <a:buChar char="•"/>
            </a:pPr>
            <a:r>
              <a:rPr lang="fr-FR" sz="1400" noProof="0" dirty="0">
                <a:solidFill>
                  <a:schemeClr val="tx2"/>
                </a:solidFill>
              </a:rPr>
              <a:t>Trait entre les deux bouts de doigts et point central cerclé de blanc.</a:t>
            </a:r>
            <a:endParaRPr lang="fr-FR" sz="1400" noProof="0" dirty="0"/>
          </a:p>
        </p:txBody>
      </p:sp>
      <p:pic>
        <p:nvPicPr>
          <p:cNvPr id="27" name="Dégradé vert vers roug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5806440"/>
            <a:ext cx="4754880" cy="15544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583680" y="59618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chemeClr val="accent5"/>
                </a:solidFill>
              </a:rPr>
              <a:t>Éloignés</a:t>
            </a:r>
            <a:endParaRPr lang="fr-FR" sz="1100" noProof="0" dirty="0"/>
          </a:p>
        </p:txBody>
      </p:sp>
      <p:sp>
        <p:nvSpPr>
          <p:cNvPr id="29" name="Text 26"/>
          <p:cNvSpPr txBox="1"/>
          <p:nvPr/>
        </p:nvSpPr>
        <p:spPr>
          <a:xfrm>
            <a:off x="9509760" y="59618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100" noProof="0" dirty="0">
                <a:solidFill>
                  <a:schemeClr val="accent5"/>
                </a:solidFill>
              </a:rPr>
              <a:t>Contact</a:t>
            </a:r>
            <a:endParaRPr lang="fr-FR" sz="1100" noProof="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fr-FR" b="0" noProof="0" smtClean="0"/>
              <a:t>5</a:t>
            </a:fld>
            <a:endParaRPr lang="fr-FR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kern="0" spc="300" noProof="0" dirty="0">
                <a:solidFill>
                  <a:schemeClr val="accent1"/>
                </a:solidFill>
              </a:rPr>
              <a:t>PARTIE 3 — DÉMONSTRATION</a:t>
            </a:r>
            <a:endParaRPr lang="fr-FR" sz="1200" noProof="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640080" y="7315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3600" b="1" noProof="0" dirty="0">
                <a:solidFill>
                  <a:schemeClr val="bg1"/>
                </a:solidFill>
              </a:rPr>
              <a:t>Démonstration temps réel de la réalisation</a:t>
            </a:r>
            <a:endParaRPr lang="fr-FR" sz="3600" noProof="0" dirty="0"/>
          </a:p>
        </p:txBody>
      </p:sp>
      <p:sp>
        <p:nvSpPr>
          <p:cNvPr id="4" name="Carte démo 1"/>
          <p:cNvSpPr/>
          <p:nvPr/>
        </p:nvSpPr>
        <p:spPr>
          <a:xfrm>
            <a:off x="640080" y="1828800"/>
            <a:ext cx="530352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" name="Pastille 1"/>
          <p:cNvSpPr/>
          <p:nvPr/>
        </p:nvSpPr>
        <p:spPr>
          <a:xfrm>
            <a:off x="960120" y="21945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6" name="Numéro 1"/>
          <p:cNvSpPr txBox="1"/>
          <p:nvPr/>
        </p:nvSpPr>
        <p:spPr>
          <a:xfrm>
            <a:off x="96012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FR" sz="24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chemeClr val="bg1"/>
                </a:solidFill>
              </a:rPr>
              <a:t>Détection &amp; squelette</a:t>
            </a:r>
            <a:endParaRPr lang="fr-FR" sz="22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0175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600" noProof="0" dirty="0">
                <a:solidFill>
                  <a:schemeClr val="accent6"/>
                </a:solidFill>
              </a:rPr>
              <a:t>Lancement du script : la webcam s'ouvre en miroir et le squelette à 21 repères se dessine sur la main.</a:t>
            </a:r>
            <a:endParaRPr lang="fr-FR" sz="1600" noProof="0" dirty="0"/>
          </a:p>
        </p:txBody>
      </p:sp>
      <p:sp>
        <p:nvSpPr>
          <p:cNvPr id="9" name="Carte démo 2"/>
          <p:cNvSpPr/>
          <p:nvPr/>
        </p:nvSpPr>
        <p:spPr>
          <a:xfrm>
            <a:off x="6245352" y="1828800"/>
            <a:ext cx="530352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Pastille 2"/>
          <p:cNvSpPr/>
          <p:nvPr/>
        </p:nvSpPr>
        <p:spPr>
          <a:xfrm>
            <a:off x="6565392" y="21945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Numéro 2"/>
          <p:cNvSpPr txBox="1"/>
          <p:nvPr/>
        </p:nvSpPr>
        <p:spPr>
          <a:xfrm>
            <a:off x="6565392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FR" sz="24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7525512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chemeClr val="bg1"/>
                </a:solidFill>
              </a:rPr>
              <a:t>Comptage des doigts</a:t>
            </a:r>
            <a:endParaRPr lang="fr-FR" sz="22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6565392" y="30175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600" noProof="0" dirty="0">
                <a:solidFill>
                  <a:schemeClr val="accent6"/>
                </a:solidFill>
              </a:rPr>
              <a:t>Lever et baisser les doigts : le total s'affiche en direct, avec le compteur FPS.</a:t>
            </a:r>
            <a:endParaRPr lang="fr-FR" sz="1600" noProof="0" dirty="0"/>
          </a:p>
        </p:txBody>
      </p:sp>
      <p:sp>
        <p:nvSpPr>
          <p:cNvPr id="14" name="Carte démo 3"/>
          <p:cNvSpPr/>
          <p:nvPr/>
        </p:nvSpPr>
        <p:spPr>
          <a:xfrm>
            <a:off x="640080" y="4160520"/>
            <a:ext cx="530352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Pastille 3"/>
          <p:cNvSpPr/>
          <p:nvPr/>
        </p:nvSpPr>
        <p:spPr>
          <a:xfrm>
            <a:off x="96012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Numéro 3"/>
          <p:cNvSpPr txBox="1"/>
          <p:nvPr/>
        </p:nvSpPr>
        <p:spPr>
          <a:xfrm>
            <a:off x="960120" y="4526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FR" sz="24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262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chemeClr val="bg1"/>
                </a:solidFill>
              </a:rPr>
              <a:t>Effet de proximité</a:t>
            </a:r>
            <a:endParaRPr lang="fr-FR" sz="2200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3492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600" noProof="0" dirty="0">
                <a:solidFill>
                  <a:schemeClr val="accent6"/>
                </a:solidFill>
              </a:rPr>
              <a:t>Rapprochement de deux bouts de doigts : trait dynamique, point d'impact et changement de couleur.</a:t>
            </a:r>
            <a:endParaRPr lang="fr-FR" sz="1600" noProof="0" dirty="0"/>
          </a:p>
        </p:txBody>
      </p:sp>
      <p:sp>
        <p:nvSpPr>
          <p:cNvPr id="19" name="Carte démo 4"/>
          <p:cNvSpPr/>
          <p:nvPr/>
        </p:nvSpPr>
        <p:spPr>
          <a:xfrm>
            <a:off x="6245352" y="4160520"/>
            <a:ext cx="530352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Pastille 4"/>
          <p:cNvSpPr/>
          <p:nvPr/>
        </p:nvSpPr>
        <p:spPr>
          <a:xfrm>
            <a:off x="6565392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Numéro 4"/>
          <p:cNvSpPr txBox="1"/>
          <p:nvPr/>
        </p:nvSpPr>
        <p:spPr>
          <a:xfrm>
            <a:off x="6565392" y="4526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 noProof="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fr-FR" sz="2400" noProof="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45262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chemeClr val="bg1"/>
                </a:solidFill>
              </a:rPr>
              <a:t>Deux mains &amp; gestes</a:t>
            </a:r>
            <a:endParaRPr lang="fr-FR" sz="2200" noProof="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53492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600" noProof="0" dirty="0">
                <a:solidFill>
                  <a:schemeClr val="accent6"/>
                </a:solidFill>
              </a:rPr>
              <a:t>Test avec les deux mains simultanément puis différents gestes (like, </a:t>
            </a:r>
            <a:r>
              <a:rPr lang="fr-FR" sz="1600" noProof="0" dirty="0" err="1">
                <a:solidFill>
                  <a:schemeClr val="accent6"/>
                </a:solidFill>
              </a:rPr>
              <a:t>peace</a:t>
            </a:r>
            <a:r>
              <a:rPr lang="fr-FR" sz="1600" noProof="0" dirty="0">
                <a:solidFill>
                  <a:schemeClr val="accent6"/>
                </a:solidFill>
              </a:rPr>
              <a:t>, OK, …).</a:t>
            </a:r>
            <a:endParaRPr lang="fr-FR" sz="16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fr-FR" b="0" noProof="0" smtClean="0"/>
              <a:t>6</a:t>
            </a:fld>
            <a:endParaRPr lang="fr-FR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1D171-82CD-7B85-4EAB-FD3DEAB8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F69E8A48-CA1C-D7E9-E0DC-4E7B122DE52E}"/>
              </a:ext>
            </a:extLst>
          </p:cNvPr>
          <p:cNvSpPr>
            <a:spLocks noGrp="1"/>
          </p:cNvSpPr>
          <p:nvPr>
            <p:ph type="title" idx="103" hasCustomPrompt="1"/>
          </p:nvPr>
        </p:nvSpPr>
        <p:spPr>
          <a:xfrm>
            <a:off x="3195587" y="2994660"/>
            <a:ext cx="580082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b="1" noProof="0" dirty="0">
                <a:solidFill>
                  <a:schemeClr val="bg1"/>
                </a:solidFill>
              </a:rPr>
              <a:t>Merci pour votre attention</a:t>
            </a:r>
            <a:endParaRPr lang="fr-FR" sz="3600" noProof="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C7FF7ADB-AC87-7528-7692-817F7B616D1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fr-FR" b="0" noProof="0" smtClean="0"/>
              <a:t>7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089494154"/>
      </p:ext>
    </p:extLst>
  </p:cSld>
  <p:clrMapOvr>
    <a:masterClrMapping/>
  </p:clrMapOvr>
</p:sld>
</file>

<file path=ppt/theme/theme1.xml><?xml version="1.0" encoding="utf-8"?>
<a:theme xmlns:a="http://schemas.openxmlformats.org/drawingml/2006/main" name="Hand Tracking">
  <a:themeElements>
    <a:clrScheme name="Hand Tracking">
      <a:dk1>
        <a:srgbClr val="0F172A"/>
      </a:dk1>
      <a:lt1>
        <a:srgbClr val="FFFFFF"/>
      </a:lt1>
      <a:dk2>
        <a:srgbClr val="1E293B"/>
      </a:dk2>
      <a:lt2>
        <a:srgbClr val="EEF2F7"/>
      </a:lt2>
      <a:accent1>
        <a:srgbClr val="22C55E"/>
      </a:accent1>
      <a:accent2>
        <a:srgbClr val="EF4444"/>
      </a:accent2>
      <a:accent3>
        <a:srgbClr val="F59E0B"/>
      </a:accent3>
      <a:accent4>
        <a:srgbClr val="15803D"/>
      </a:accent4>
      <a:accent5>
        <a:srgbClr val="64748B"/>
      </a:accent5>
      <a:accent6>
        <a:srgbClr val="CBD5E1"/>
      </a:accent6>
      <a:hlink>
        <a:srgbClr val="38BDF8"/>
      </a:hlink>
      <a:folHlink>
        <a:srgbClr val="94A3B8"/>
      </a:folHlink>
    </a:clrScheme>
    <a:fontScheme name="Hand Track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662</Words>
  <Application>Microsoft Office PowerPoint</Application>
  <PresentationFormat>Grand écran</PresentationFormat>
  <Paragraphs>84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Hand Tracking</vt:lpstr>
      <vt:lpstr>Estimation du squelette de la main et détection des doigts</vt:lpstr>
      <vt:lpstr>Présentation de l'application &amp; contexte</vt:lpstr>
      <vt:lpstr>Méthodologie : détection MediaPipe Tasks</vt:lpstr>
      <vt:lpstr>Méthodologie : squelette &amp; comptage des doigts</vt:lpstr>
      <vt:lpstr>Effet visuel de proximité entre extrémités</vt:lpstr>
      <vt:lpstr>Démonstration temps réel de la réalisation</vt:lpstr>
      <vt:lpstr>Merci pour votre attention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TP4 — Détection de Squelette de Main &amp; Gestes</dc:title>
  <dc:subject>PptxGenJS Presentation</dc:subject>
  <dc:creator>Équipe projet — IUT de Saint-Dié-des-Vosges</dc:creator>
  <cp:lastModifiedBy>Valentin Hoja</cp:lastModifiedBy>
  <cp:revision>6</cp:revision>
  <dcterms:created xsi:type="dcterms:W3CDTF">2026-10-21T08:50:27Z</dcterms:created>
  <dcterms:modified xsi:type="dcterms:W3CDTF">2026-10-22T07:33:12Z</dcterms:modified>
</cp:coreProperties>
</file>