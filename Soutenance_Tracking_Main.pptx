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9.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63" r:id="rId4"/>
    <p:sldId id="258" r:id="rId5"/>
    <p:sldId id="259" r:id="rId6"/>
    <p:sldId id="260" r:id="rId7"/>
    <p:sldId id="264" r:id="rId15"/>
    <p:sldId id="261" r:id="rId8"/>
    <p:sldId id="262"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A375887-F623-D2FB-DFA2-66976AB20ED1}">
          <p14:sldIdLst>
            <p14:sldId id="256"/>
          </p14:sldIdLst>
        </p14:section>
        <p14:section name="Partie 1 — Présentation" id="{5AF8433D-E5F4-E29A-B6A6-AA894E2AE86C}">
          <p14:sldIdLst>
            <p14:sldId id="257"/>
            <p14:sldId id="263"/>
          </p14:sldIdLst>
        </p14:section>
        <p14:section name="Partie 2 — Méthodologie" id="{ADE9D693-EEBC-85AC-676E-19A348526DD0}">
          <p14:sldIdLst>
            <p14:sldId id="258"/>
            <p14:sldId id="259"/>
            <p14:sldId id="260"/>
          </p14:sldIdLst>
        </p14:section>
        <p14:section name="Partie 3 — Démonstration" id="{87151820-D428-E0C2-2746-1C1CB7D99AB3}">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  <Relationship Id="rId15" Type="http://schemas.openxmlformats.org/officeDocument/2006/relationships/slide" Target="slides/slide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39142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99329-58B2-4DDB-0DC9-51DA2446A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0E4DB3-2065-D518-57BE-509F0B0A37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D09317-D807-F750-60B4-5F3F195EE6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D7BC82-994A-F251-A968-C964338EAEDC}"/>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7148371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75942-B225-467D-8BAF-585E4946DA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48DDA9-0C8E-CD17-732F-16CB1BAFF6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708205-3F03-6189-90F3-FE5F73FD12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90D2D6-54F5-9E2B-6158-31D4E6228029}"/>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886276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chemeClr val="bg2"/>
          </a:solidFill>
          <a:ln/>
        </p:spPr>
      </p:sp>
      <p:sp>
        <p:nvSpPr>
          <p:cNvPr id="3" name="Text 1"/>
          <p:cNvSpPr/>
          <p:nvPr/>
        </p:nvSpPr>
        <p:spPr>
          <a:xfrm>
            <a:off x="640080" y="6382512"/>
            <a:ext cx="6400800" cy="274320"/>
          </a:xfrm>
          <a:prstGeom prst="rect">
            <a:avLst/>
          </a:prstGeom>
          <a:noFill/>
          <a:ln/>
        </p:spPr>
        <p:txBody>
          <a:bodyPr wrap="square" lIns="0" tIns="0" rIns="0" bIns="0" rtlCol="0" anchor="ctr"/>
          <a:lstStyle/>
          <a:p>
            <a:pPr marL="0" indent="0">
              <a:buNone/>
            </a:pPr>
            <a:r>
              <a:rPr lang="en-US" sz="1000" dirty="0">
                <a:solidFill>
                  <a:schemeClr val="accent5"/>
                </a:solidFill>
              </a:rPr>
              <a:t>Soutenance TP4 · IUT de Saint-Dié-des-Vosges</a:t>
            </a:r>
            <a:endParaRPr lang="en-US" sz="1000" dirty="0"/>
          </a:p>
        </p:txBody>
      </p:sp>
      <p:sp>
        <p:nvSpPr>
          <p:cNvPr id="4" name="Text 2"/>
          <p:cNvSpPr>
            <a:spLocks noGrp="1"/>
          </p:cNvSpPr>
          <p:nvPr>
            <p:ph type="body" idx="102" hasCustomPrompt="1"/>
          </p:nvPr>
        </p:nvSpPr>
        <p:spPr>
          <a:xfrm>
            <a:off x="640080" y="411480"/>
            <a:ext cx="7315200" cy="274320"/>
          </a:xfrm>
          <a:prstGeom prst="rect">
            <a:avLst/>
          </a:prstGeom>
          <a:noFill/>
          <a:ln/>
        </p:spPr>
        <p:txBody>
          <a:bodyPr wrap="square" rtlCol="0"/>
          <a:lstStyle>
            <a:lvl1pPr marL="0" indent="0">
              <a:buNone/>
              <a:defRPr lang="en-US" sz="1200" b="1" kern="0" spc="300" dirty="0">
                <a:solidFill>
                  <a:schemeClr val="accent4"/>
                </a:solidFill>
              </a:defRPr>
            </a:lvl1pPr>
          </a:lstStyle>
          <a:p>
            <a:pPr marL="0" indent="0">
              <a:buNone/>
            </a:pPr>
            <a:endParaRPr lang="en-US" sz="1200" dirty="0"/>
          </a:p>
        </p:txBody>
      </p:sp>
      <p:sp>
        <p:nvSpPr>
          <p:cNvPr id="5" name="Text 2"/>
          <p:cNvSpPr>
            <a:spLocks noGrp="1"/>
          </p:cNvSpPr>
          <p:nvPr>
            <p:ph type="title" idx="103" hasCustomPrompt="1"/>
          </p:nvPr>
        </p:nvSpPr>
        <p:spPr>
          <a:xfrm>
            <a:off x="640080" y="731520"/>
            <a:ext cx="10881360" cy="86868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0881360" y="6382512"/>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chemeClr val="tx1"/>
          </a:solidFill>
          <a:ln/>
        </p:spPr>
      </p:sp>
      <p:sp>
        <p:nvSpPr>
          <p:cNvPr id="3" name="Text 1"/>
          <p:cNvSpPr/>
          <p:nvPr/>
        </p:nvSpPr>
        <p:spPr>
          <a:xfrm>
            <a:off x="640080" y="6382512"/>
            <a:ext cx="6400800" cy="274320"/>
          </a:xfrm>
          <a:prstGeom prst="rect">
            <a:avLst/>
          </a:prstGeom>
          <a:noFill/>
          <a:ln/>
        </p:spPr>
        <p:txBody>
          <a:bodyPr wrap="square" lIns="0" tIns="0" rIns="0" bIns="0" rtlCol="0" anchor="ctr"/>
          <a:lstStyle/>
          <a:p>
            <a:pPr marL="0" indent="0">
              <a:buNone/>
            </a:pPr>
            <a:r>
              <a:rPr lang="en-US" sz="1000" dirty="0">
                <a:solidFill>
                  <a:schemeClr val="accent6"/>
                </a:solidFill>
              </a:rPr>
              <a:t>Soutenance TP4 · IUT de Saint-Dié-des-Vosges</a:t>
            </a:r>
            <a:endParaRPr lang="en-US" sz="1000" dirty="0"/>
          </a:p>
        </p:txBody>
      </p:sp>
      <p:sp>
        <p:nvSpPr>
          <p:cNvPr id="4" name="Text 2"/>
          <p:cNvSpPr>
            <a:spLocks noGrp="1"/>
          </p:cNvSpPr>
          <p:nvPr>
            <p:ph type="body" idx="102" hasCustomPrompt="1"/>
          </p:nvPr>
        </p:nvSpPr>
        <p:spPr>
          <a:xfrm>
            <a:off x="640080" y="411480"/>
            <a:ext cx="7315200" cy="274320"/>
          </a:xfrm>
          <a:prstGeom prst="rect">
            <a:avLst/>
          </a:prstGeom>
          <a:noFill/>
          <a:ln/>
        </p:spPr>
        <p:txBody>
          <a:bodyPr wrap="square" rtlCol="0"/>
          <a:lstStyle>
            <a:lvl1pPr marL="0" indent="0">
              <a:buNone/>
              <a:defRPr lang="en-US" sz="1200" b="1" kern="0" spc="300" dirty="0">
                <a:solidFill>
                  <a:schemeClr val="accent1"/>
                </a:solidFill>
              </a:defRPr>
            </a:lvl1pPr>
          </a:lstStyle>
          <a:p>
            <a:pPr marL="0" indent="0">
              <a:buNone/>
            </a:pPr>
            <a:endParaRPr lang="en-US" sz="1200" dirty="0"/>
          </a:p>
        </p:txBody>
      </p:sp>
      <p:sp>
        <p:nvSpPr>
          <p:cNvPr id="5" name="Text 2"/>
          <p:cNvSpPr>
            <a:spLocks noGrp="1"/>
          </p:cNvSpPr>
          <p:nvPr>
            <p:ph type="title" idx="103" hasCustomPrompt="1"/>
          </p:nvPr>
        </p:nvSpPr>
        <p:spPr>
          <a:xfrm>
            <a:off x="640080" y="731520"/>
            <a:ext cx="10881360" cy="86868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0881360" y="6382512"/>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DARK">
    <p:spTree>
      <p:nvGrpSpPr>
        <p:cNvPr id="1" name=""/>
        <p:cNvGrpSpPr/>
        <p:nvPr/>
      </p:nvGrpSpPr>
      <p:grpSpPr>
        <a:xfrm>
          <a:off x="0" y="0"/>
          <a:ext cx="0" cy="0"/>
          <a:chOff x="0" y="0"/>
          <a:chExt cx="0" cy="0"/>
        </a:xfrm>
      </p:grpSpPr>
      <p:sp>
        <p:nvSpPr>
          <p:cNvPr id="2" name="Shape 0"/>
          <p:cNvSpPr/>
          <p:nvPr/>
        </p:nvSpPr>
        <p:spPr>
          <a:xfrm>
            <a:off x="-45720" y="-45720"/>
            <a:ext cx="12283135" cy="6949440"/>
          </a:xfrm>
          <a:prstGeom prst="rect">
            <a:avLst/>
          </a:prstGeom>
          <a:solidFill>
            <a:schemeClr val="tx1"/>
          </a:solidFill>
          <a:ln/>
        </p:spPr>
        <p:txBody>
          <a:bodyPr/>
          <a:lstStyle/>
          <a:p>
            <a:endParaRPr lang="fr-FR"/>
          </a:p>
        </p:txBody>
      </p:sp>
      <p:sp>
        <p:nvSpPr>
          <p:cNvPr id="3" name="Text 1"/>
          <p:cNvSpPr>
            <a:spLocks noGrp="1"/>
          </p:cNvSpPr>
          <p:nvPr>
            <p:ph type="body" idx="101" hasCustomPrompt="1"/>
          </p:nvPr>
        </p:nvSpPr>
        <p:spPr>
          <a:xfrm>
            <a:off x="822960" y="1554480"/>
            <a:ext cx="5943600" cy="320040"/>
          </a:xfrm>
          <a:prstGeom prst="rect">
            <a:avLst/>
          </a:prstGeom>
          <a:noFill/>
          <a:ln/>
        </p:spPr>
        <p:txBody>
          <a:bodyPr wrap="square" rtlCol="0"/>
          <a:lstStyle>
            <a:lvl1pPr marL="0" indent="0">
              <a:buNone/>
              <a:defRPr lang="en-US" sz="1400" b="1" kern="0" spc="400" dirty="0">
                <a:solidFill>
                  <a:schemeClr val="accent1"/>
                </a:solidFill>
              </a:defRPr>
            </a:lvl1pPr>
          </a:lstStyle>
          <a:p>
            <a:pPr marL="0" indent="0">
              <a:buNone/>
            </a:pPr>
            <a:endParaRPr lang="en-US" sz="1400" dirty="0"/>
          </a:p>
        </p:txBody>
      </p:sp>
      <p:sp>
        <p:nvSpPr>
          <p:cNvPr id="4" name="Text 1"/>
          <p:cNvSpPr>
            <a:spLocks noGrp="1"/>
          </p:cNvSpPr>
          <p:nvPr>
            <p:ph type="title" idx="102" hasCustomPrompt="1"/>
          </p:nvPr>
        </p:nvSpPr>
        <p:spPr>
          <a:xfrm>
            <a:off x="822960" y="1965960"/>
            <a:ext cx="6126480" cy="21031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5" name="Text 1"/>
          <p:cNvSpPr>
            <a:spLocks noGrp="1"/>
          </p:cNvSpPr>
          <p:nvPr>
            <p:ph type="body" idx="103" hasCustomPrompt="1"/>
          </p:nvPr>
        </p:nvSpPr>
        <p:spPr>
          <a:xfrm>
            <a:off x="822960" y="4343400"/>
            <a:ext cx="5943600" cy="822960"/>
          </a:xfrm>
          <a:prstGeom prst="rect">
            <a:avLst/>
          </a:prstGeom>
          <a:noFill/>
          <a:ln/>
        </p:spPr>
        <p:txBody>
          <a:bodyPr wrap="square" rtlCol="0"/>
          <a:lstStyle>
            <a:lvl1pPr marL="0" indent="0">
              <a:buNone/>
              <a:defRPr lang="en-US" sz="1800" dirty="0">
                <a:solidFill>
                  <a:schemeClr val="accent1"/>
                </a:solidFill>
              </a:defRPr>
            </a:lvl1pPr>
          </a:lstStyle>
          <a:p>
            <a:pPr marL="0" indent="0">
              <a:buNone/>
            </a:pPr>
            <a:endParaRPr lang="en-US" sz="1800" dirty="0"/>
          </a:p>
        </p:txBody>
      </p:sp>
      <p:sp>
        <p:nvSpPr>
          <p:cNvPr id="6" name="Text 1"/>
          <p:cNvSpPr>
            <a:spLocks noGrp="1"/>
          </p:cNvSpPr>
          <p:nvPr>
            <p:ph type="body" idx="104" hasCustomPrompt="1"/>
          </p:nvPr>
        </p:nvSpPr>
        <p:spPr>
          <a:xfrm>
            <a:off x="822960" y="5669280"/>
            <a:ext cx="6126480" cy="365760"/>
          </a:xfrm>
          <a:prstGeom prst="rect">
            <a:avLst/>
          </a:prstGeom>
          <a:noFill/>
          <a:ln/>
        </p:spPr>
        <p:txBody>
          <a:bodyPr wrap="square" rtlCol="0"/>
          <a:lstStyle>
            <a:lvl1pPr marL="0" indent="0">
              <a:buNone/>
              <a:defRPr lang="en-US" sz="1400" dirty="0">
                <a:solidFill>
                  <a:schemeClr val="accent6"/>
                </a:solidFill>
              </a:defRPr>
            </a:lvl1pPr>
          </a:lstStyle>
          <a:p>
            <a:pPr marL="0" indent="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554480"/>
            <a:ext cx="5943600" cy="320040"/>
          </a:xfrm>
          <a:prstGeom prst="rect">
            <a:avLst/>
          </a:prstGeom>
          <a:noFill/>
          <a:ln/>
        </p:spPr>
        <p:txBody>
          <a:bodyPr wrap="square" lIns="0" tIns="0" rIns="0" bIns="0" rtlCol="0" anchor="ctr"/>
          <a:lstStyle/>
          <a:p>
            <a:pPr marL="0" indent="0">
              <a:buNone/>
            </a:pPr>
            <a:r>
              <a:rPr lang="fr-FR" sz="1400" b="1" kern="0" spc="400" noProof="0" dirty="0">
                <a:solidFill>
                  <a:schemeClr val="accent1"/>
                </a:solidFill>
              </a:rPr>
              <a:t>SOUTENANCE MINI-PROJET</a:t>
            </a:r>
            <a:endParaRPr lang="fr-FR" sz="1400" noProof="0" dirty="0"/>
          </a:p>
        </p:txBody>
      </p:sp>
      <p:sp>
        <p:nvSpPr>
          <p:cNvPr id="3" name="Text 1"/>
          <p:cNvSpPr>
            <a:spLocks noGrp="1"/>
          </p:cNvSpPr>
          <p:nvPr>
            <p:ph type="title" idx="102" hasCustomPrompt="1"/>
          </p:nvPr>
        </p:nvSpPr>
        <p:spPr>
          <a:xfrm>
            <a:off x="822960" y="1965960"/>
            <a:ext cx="6126480" cy="2103120"/>
          </a:xfrm>
          <a:prstGeom prst="rect">
            <a:avLst/>
          </a:prstGeom>
          <a:noFill/>
          <a:ln/>
        </p:spPr>
        <p:txBody>
          <a:bodyPr wrap="square" lIns="0" tIns="0" rIns="0" bIns="0" rtlCol="0" anchor="t"/>
          <a:lstStyle/>
          <a:p>
            <a:r>
              <a:rPr lang="fr-FR" noProof="0" dirty="0"/>
              <a:t>Estimation du squelette de la main et détection des doigts</a:t>
            </a:r>
            <a:endParaRPr lang="fr-FR" sz="4000" noProof="0" dirty="0"/>
          </a:p>
        </p:txBody>
      </p:sp>
      <p:sp>
        <p:nvSpPr>
          <p:cNvPr id="4" name="Text 1"/>
          <p:cNvSpPr>
            <a:spLocks noGrp="1"/>
          </p:cNvSpPr>
          <p:nvPr>
            <p:ph type="body" idx="103" hasCustomPrompt="1"/>
          </p:nvPr>
        </p:nvSpPr>
        <p:spPr>
          <a:xfrm>
            <a:off x="822960" y="4343400"/>
            <a:ext cx="5943600" cy="822960"/>
          </a:xfrm>
          <a:prstGeom prst="rect">
            <a:avLst/>
          </a:prstGeom>
          <a:noFill/>
          <a:ln/>
        </p:spPr>
        <p:txBody>
          <a:bodyPr wrap="square" lIns="0" tIns="0" rIns="0" bIns="0" rtlCol="0" anchor="t"/>
          <a:lstStyle/>
          <a:p>
            <a:pPr marL="0" indent="0">
              <a:buNone/>
            </a:pPr>
            <a:r>
              <a:rPr lang="fr-FR" sz="1800" noProof="0" dirty="0">
                <a:solidFill>
                  <a:schemeClr val="accent1"/>
                </a:solidFill>
              </a:rPr>
              <a:t>Réseau de neurones </a:t>
            </a:r>
            <a:r>
              <a:rPr lang="fr-FR" sz="1800" noProof="0" dirty="0" err="1">
                <a:solidFill>
                  <a:schemeClr val="accent1"/>
                </a:solidFill>
              </a:rPr>
              <a:t>MediaPipe</a:t>
            </a:r>
            <a:r>
              <a:rPr lang="fr-FR" sz="1800" noProof="0" dirty="0">
                <a:solidFill>
                  <a:schemeClr val="accent1"/>
                </a:solidFill>
              </a:rPr>
              <a:t> </a:t>
            </a:r>
            <a:r>
              <a:rPr lang="fr-FR" sz="1800" noProof="0" dirty="0" err="1">
                <a:solidFill>
                  <a:schemeClr val="accent1"/>
                </a:solidFill>
              </a:rPr>
              <a:t>Tasks</a:t>
            </a:r>
            <a:r>
              <a:rPr lang="fr-FR" sz="1800" noProof="0" dirty="0">
                <a:solidFill>
                  <a:schemeClr val="accent1"/>
                </a:solidFill>
              </a:rPr>
              <a:t> (Hand </a:t>
            </a:r>
            <a:r>
              <a:rPr lang="fr-FR" sz="1800" noProof="0" dirty="0" err="1">
                <a:solidFill>
                  <a:schemeClr val="accent1"/>
                </a:solidFill>
              </a:rPr>
              <a:t>Landmarker</a:t>
            </a:r>
            <a:r>
              <a:rPr lang="fr-FR" sz="1800" noProof="0" dirty="0">
                <a:solidFill>
                  <a:schemeClr val="accent1"/>
                </a:solidFill>
              </a:rPr>
              <a:t>) • </a:t>
            </a:r>
            <a:r>
              <a:rPr lang="fr-FR" sz="1800" noProof="0" dirty="0" err="1">
                <a:solidFill>
                  <a:schemeClr val="accent1"/>
                </a:solidFill>
              </a:rPr>
              <a:t>OpenCV</a:t>
            </a:r>
            <a:r>
              <a:rPr lang="fr-FR" sz="1800" noProof="0" dirty="0">
                <a:solidFill>
                  <a:schemeClr val="accent1"/>
                </a:solidFill>
              </a:rPr>
              <a:t> &amp; Python</a:t>
            </a:r>
            <a:endParaRPr lang="fr-FR" sz="1800" noProof="0" dirty="0"/>
          </a:p>
        </p:txBody>
      </p:sp>
      <p:sp>
        <p:nvSpPr>
          <p:cNvPr id="5" name="Text 1"/>
          <p:cNvSpPr>
            <a:spLocks noGrp="1"/>
          </p:cNvSpPr>
          <p:nvPr>
            <p:ph type="body" idx="104" hasCustomPrompt="1"/>
          </p:nvPr>
        </p:nvSpPr>
        <p:spPr>
          <a:xfrm>
            <a:off x="822960" y="5669280"/>
            <a:ext cx="3315903" cy="365760"/>
          </a:xfrm>
          <a:prstGeom prst="rect">
            <a:avLst/>
          </a:prstGeom>
          <a:noFill/>
          <a:ln/>
        </p:spPr>
        <p:txBody>
          <a:bodyPr wrap="square" lIns="0" tIns="0" rIns="0" bIns="0" rtlCol="0" anchor="ctr"/>
          <a:lstStyle/>
          <a:p>
            <a:pPr marL="0" indent="0">
              <a:buNone/>
            </a:pPr>
            <a:r>
              <a:rPr lang="fr-FR" sz="1400" noProof="0" dirty="0">
                <a:solidFill>
                  <a:schemeClr val="accent6"/>
                </a:solidFill>
              </a:rPr>
              <a:t>Présenté par </a:t>
            </a:r>
            <a:r>
              <a:rPr lang="fr-FR" noProof="0" dirty="0"/>
              <a:t>HOJA Valentin &amp; HOFF Rafaël</a:t>
            </a:r>
            <a:endParaRPr lang="fr-FR" sz="1400" noProof="0" dirty="0"/>
          </a:p>
        </p:txBody>
      </p:sp>
      <p:pic>
        <p:nvPicPr>
          <p:cNvPr id="6" name="Illustration main squelette" descr="Squelette de main à 21 repères avec effet de proximité entre l'index et le majeur"/>
          <p:cNvPicPr>
            <a:picLocks noChangeAspect="1"/>
          </p:cNvPicPr>
          <p:nvPr/>
        </p:nvPicPr>
        <p:blipFill>
          <a:blip r:embed="rId3"/>
          <a:stretch>
            <a:fillRect/>
          </a:stretch>
        </p:blipFill>
        <p:spPr>
          <a:xfrm>
            <a:off x="7315200" y="685800"/>
            <a:ext cx="4389120" cy="5486400"/>
          </a:xfrm>
          <a:prstGeom prst="rect">
            <a:avLst/>
          </a:prstGeom>
        </p:spPr>
      </p:pic>
      <p:pic>
        <p:nvPicPr>
          <p:cNvPr id="10" name="Image 9">
            <a:extLst>
              <a:ext uri="{FF2B5EF4-FFF2-40B4-BE49-F238E27FC236}">
                <a16:creationId xmlns:a16="http://schemas.microsoft.com/office/drawing/2014/main" id="{54B3B3F1-866E-80D9-489C-74F39C539EF4}"/>
              </a:ext>
            </a:extLst>
          </p:cNvPr>
          <p:cNvPicPr>
            <a:picLocks noChangeAspect="1"/>
          </p:cNvPicPr>
          <p:nvPr/>
        </p:nvPicPr>
        <p:blipFill>
          <a:blip r:embed="rId4"/>
          <a:stretch>
            <a:fillRect/>
          </a:stretch>
        </p:blipFill>
        <p:spPr>
          <a:xfrm>
            <a:off x="4138863" y="5519384"/>
            <a:ext cx="3683189" cy="698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a:spLocks noGrp="1"/>
          </p:cNvSpPr>
          <p:nvPr>
            <p:ph type="body" idx="102" hasCustomPrompt="1"/>
          </p:nvPr>
        </p:nvSpPr>
        <p:spPr>
          <a:xfrm>
            <a:off x="640080" y="411480"/>
            <a:ext cx="7315200" cy="274320"/>
          </a:xfrm>
          <a:prstGeom prst="rect">
            <a:avLst/>
          </a:prstGeom>
          <a:noFill/>
          <a:ln/>
        </p:spPr>
        <p:txBody>
          <a:bodyPr wrap="square" lIns="0" tIns="0" rIns="0" bIns="0" rtlCol="0" anchor="ctr"/>
          <a:lstStyle/>
          <a:p>
            <a:pPr marL="0" indent="0">
              <a:buNone/>
            </a:pPr>
            <a:r>
              <a:rPr lang="fr-FR" sz="1200" b="1" kern="0" spc="300" noProof="0" dirty="0">
                <a:solidFill>
                  <a:schemeClr val="accent4"/>
                </a:solidFill>
              </a:rPr>
              <a:t>PARTIE 1 — </a:t>
            </a:r>
            <a:r>
              <a:rPr lang="fr-FR" noProof="0" dirty="0"/>
              <a:t>PRÉSENTATION &amp; CONTEXTE</a:t>
            </a:r>
            <a:endParaRPr lang="fr-FR" sz="1200" noProof="0" dirty="0"/>
          </a:p>
        </p:txBody>
      </p:sp>
      <p:sp>
        <p:nvSpPr>
          <p:cNvPr id="3" name="Text 2"/>
          <p:cNvSpPr>
            <a:spLocks noGrp="1"/>
          </p:cNvSpPr>
          <p:nvPr>
            <p:ph type="title" idx="103" hasCustomPrompt="1"/>
          </p:nvPr>
        </p:nvSpPr>
        <p:spPr>
          <a:xfrm>
            <a:off x="640080" y="731520"/>
            <a:ext cx="10881360" cy="868680"/>
          </a:xfrm>
          <a:prstGeom prst="rect">
            <a:avLst/>
          </a:prstGeom>
          <a:noFill/>
          <a:ln/>
        </p:spPr>
        <p:txBody>
          <a:bodyPr wrap="square" lIns="0" tIns="0" rIns="0" bIns="0" rtlCol="0" anchor="ctr"/>
          <a:lstStyle/>
          <a:p>
            <a:pPr marL="0" indent="0" algn="l">
              <a:buNone/>
            </a:pPr>
            <a:r>
              <a:rPr lang="fr-FR" sz="3600" b="1" noProof="0" dirty="0">
                <a:solidFill>
                  <a:schemeClr val="tx1"/>
                </a:solidFill>
              </a:rPr>
              <a:t>Présentation de l'application &amp; contexte</a:t>
            </a:r>
            <a:endParaRPr lang="fr-FR" sz="3600" noProof="0" dirty="0"/>
          </a:p>
        </p:txBody>
      </p:sp>
      <p:sp>
        <p:nvSpPr>
          <p:cNvPr id="4" name="Carte Contexte du projet"/>
          <p:cNvSpPr/>
          <p:nvPr/>
        </p:nvSpPr>
        <p:spPr>
          <a:xfrm>
            <a:off x="640080" y="1828800"/>
            <a:ext cx="6675120" cy="2103120"/>
          </a:xfrm>
          <a:prstGeom prst="roundRect">
            <a:avLst>
              <a:gd name="adj" fmla="val 5217"/>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5" name="Pastille Contexte du projet"/>
          <p:cNvSpPr/>
          <p:nvPr/>
        </p:nvSpPr>
        <p:spPr>
          <a:xfrm>
            <a:off x="960120" y="2148840"/>
            <a:ext cx="640080" cy="640080"/>
          </a:xfrm>
          <a:prstGeom prst="ellipse">
            <a:avLst/>
          </a:prstGeom>
          <a:solidFill>
            <a:schemeClr val="accent4"/>
          </a:solidFill>
          <a:ln/>
        </p:spPr>
        <p:txBody>
          <a:bodyPr/>
          <a:lstStyle/>
          <a:p>
            <a:endParaRPr lang="fr-FR" noProof="0" dirty="0"/>
          </a:p>
        </p:txBody>
      </p:sp>
      <p:pic>
        <p:nvPicPr>
          <p:cNvPr id="6" name="Icône Contexte du projet" descr="preencoded.png"/>
          <p:cNvPicPr>
            <a:picLocks noChangeAspect="1"/>
          </p:cNvPicPr>
          <p:nvPr/>
        </p:nvPicPr>
        <p:blipFill>
          <a:blip r:embed="rId3"/>
          <a:stretch>
            <a:fillRect/>
          </a:stretch>
        </p:blipFill>
        <p:spPr>
          <a:xfrm>
            <a:off x="1120140" y="2308860"/>
            <a:ext cx="320040" cy="320040"/>
          </a:xfrm>
          <a:prstGeom prst="rect">
            <a:avLst/>
          </a:prstGeom>
        </p:spPr>
      </p:pic>
      <p:sp>
        <p:nvSpPr>
          <p:cNvPr id="7" name="Text 4"/>
          <p:cNvSpPr txBox="1"/>
          <p:nvPr/>
        </p:nvSpPr>
        <p:spPr>
          <a:xfrm>
            <a:off x="1874520" y="2103120"/>
            <a:ext cx="5212080" cy="411480"/>
          </a:xfrm>
          <a:prstGeom prst="rect">
            <a:avLst/>
          </a:prstGeom>
          <a:noFill/>
          <a:ln/>
        </p:spPr>
        <p:txBody>
          <a:bodyPr wrap="square" lIns="0" tIns="0" rIns="0" bIns="0" rtlCol="0" anchor="ctr"/>
          <a:lstStyle/>
          <a:p>
            <a:pPr marL="0" indent="0">
              <a:buNone/>
            </a:pPr>
            <a:r>
              <a:rPr lang="fr-FR" sz="2000" b="1" noProof="0" dirty="0">
                <a:solidFill>
                  <a:schemeClr val="tx1"/>
                </a:solidFill>
              </a:rPr>
              <a:t>Contexte du projet</a:t>
            </a:r>
            <a:endParaRPr lang="fr-FR" sz="2000" noProof="0" dirty="0"/>
          </a:p>
        </p:txBody>
      </p:sp>
      <p:sp>
        <p:nvSpPr>
          <p:cNvPr id="8" name="Text 5"/>
          <p:cNvSpPr txBox="1"/>
          <p:nvPr/>
        </p:nvSpPr>
        <p:spPr>
          <a:xfrm>
            <a:off x="1874520" y="2606040"/>
            <a:ext cx="5212080" cy="1097280"/>
          </a:xfrm>
          <a:prstGeom prst="rect">
            <a:avLst/>
          </a:prstGeom>
          <a:noFill/>
          <a:ln/>
        </p:spPr>
        <p:txBody>
          <a:bodyPr wrap="square" lIns="0" tIns="0" rIns="0" bIns="0" rtlCol="0" anchor="t"/>
          <a:lstStyle/>
          <a:p>
            <a:pPr marL="0" indent="0">
              <a:buNone/>
            </a:pPr>
            <a:r>
              <a:rPr lang="fr-FR" sz="1600" noProof="0" dirty="0">
                <a:solidFill>
                  <a:schemeClr val="tx2"/>
                </a:solidFill>
              </a:rPr>
              <a:t>Application Python qui capture le flux de la webcam en temps réel, analyse la structure anatomique des mains, compte les doigts levés, reconnaît des gestes et génère un effet visuel de proximité.</a:t>
            </a:r>
            <a:endParaRPr lang="fr-FR" sz="1600" noProof="0" dirty="0"/>
          </a:p>
        </p:txBody>
      </p:sp>
      <p:sp>
        <p:nvSpPr>
          <p:cNvPr id="9" name="Carte Approche technique"/>
          <p:cNvSpPr/>
          <p:nvPr/>
        </p:nvSpPr>
        <p:spPr>
          <a:xfrm>
            <a:off x="640080" y="4206240"/>
            <a:ext cx="6675120" cy="2011680"/>
          </a:xfrm>
          <a:prstGeom prst="roundRect">
            <a:avLst>
              <a:gd name="adj" fmla="val 5455"/>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10" name="Pastille Approche technique"/>
          <p:cNvSpPr/>
          <p:nvPr/>
        </p:nvSpPr>
        <p:spPr>
          <a:xfrm>
            <a:off x="960120" y="4526280"/>
            <a:ext cx="640080" cy="640080"/>
          </a:xfrm>
          <a:prstGeom prst="ellipse">
            <a:avLst/>
          </a:prstGeom>
          <a:solidFill>
            <a:schemeClr val="accent4"/>
          </a:solidFill>
          <a:ln/>
        </p:spPr>
        <p:txBody>
          <a:bodyPr/>
          <a:lstStyle/>
          <a:p>
            <a:endParaRPr lang="fr-FR" noProof="0" dirty="0"/>
          </a:p>
        </p:txBody>
      </p:sp>
      <p:pic>
        <p:nvPicPr>
          <p:cNvPr id="11" name="Icône Approche technique" descr="preencoded.png"/>
          <p:cNvPicPr>
            <a:picLocks noChangeAspect="1"/>
          </p:cNvPicPr>
          <p:nvPr/>
        </p:nvPicPr>
        <p:blipFill>
          <a:blip r:embed="rId4"/>
          <a:stretch>
            <a:fillRect/>
          </a:stretch>
        </p:blipFill>
        <p:spPr>
          <a:xfrm>
            <a:off x="1120140" y="4686300"/>
            <a:ext cx="320040" cy="320040"/>
          </a:xfrm>
          <a:prstGeom prst="rect">
            <a:avLst/>
          </a:prstGeom>
        </p:spPr>
      </p:pic>
      <p:sp>
        <p:nvSpPr>
          <p:cNvPr id="12" name="Text 8"/>
          <p:cNvSpPr txBox="1"/>
          <p:nvPr/>
        </p:nvSpPr>
        <p:spPr>
          <a:xfrm>
            <a:off x="1874520" y="4480560"/>
            <a:ext cx="5212080" cy="411480"/>
          </a:xfrm>
          <a:prstGeom prst="rect">
            <a:avLst/>
          </a:prstGeom>
          <a:noFill/>
          <a:ln/>
        </p:spPr>
        <p:txBody>
          <a:bodyPr wrap="square" lIns="0" tIns="0" rIns="0" bIns="0" rtlCol="0" anchor="ctr"/>
          <a:lstStyle/>
          <a:p>
            <a:pPr marL="0" indent="0">
              <a:buNone/>
            </a:pPr>
            <a:r>
              <a:rPr lang="fr-FR" sz="2000" b="1" noProof="0" dirty="0">
                <a:solidFill>
                  <a:schemeClr val="tx1"/>
                </a:solidFill>
              </a:rPr>
              <a:t>Approche technique</a:t>
            </a:r>
            <a:endParaRPr lang="fr-FR" sz="2000" noProof="0" dirty="0"/>
          </a:p>
        </p:txBody>
      </p:sp>
      <p:sp>
        <p:nvSpPr>
          <p:cNvPr id="13" name="Text 9"/>
          <p:cNvSpPr txBox="1"/>
          <p:nvPr/>
        </p:nvSpPr>
        <p:spPr>
          <a:xfrm>
            <a:off x="1874520" y="4983480"/>
            <a:ext cx="5212080" cy="1005840"/>
          </a:xfrm>
          <a:prstGeom prst="rect">
            <a:avLst/>
          </a:prstGeom>
          <a:noFill/>
          <a:ln/>
        </p:spPr>
        <p:txBody>
          <a:bodyPr wrap="square" lIns="0" tIns="0" rIns="0" bIns="0" rtlCol="0" anchor="t"/>
          <a:lstStyle/>
          <a:p>
            <a:pPr marL="0" indent="0">
              <a:buNone/>
            </a:pPr>
            <a:r>
              <a:rPr lang="fr-FR" sz="1600" noProof="0" dirty="0">
                <a:solidFill>
                  <a:schemeClr val="tx2"/>
                </a:solidFill>
              </a:rPr>
              <a:t>API </a:t>
            </a:r>
            <a:r>
              <a:rPr lang="fr-FR" sz="1600" noProof="0" dirty="0" err="1">
                <a:solidFill>
                  <a:schemeClr val="tx2"/>
                </a:solidFill>
              </a:rPr>
              <a:t>MediaPipe</a:t>
            </a:r>
            <a:r>
              <a:rPr lang="fr-FR" sz="1600" noProof="0" dirty="0">
                <a:solidFill>
                  <a:schemeClr val="tx2"/>
                </a:solidFill>
              </a:rPr>
              <a:t> </a:t>
            </a:r>
            <a:r>
              <a:rPr lang="fr-FR" sz="1600" noProof="0" dirty="0" err="1">
                <a:solidFill>
                  <a:schemeClr val="tx2"/>
                </a:solidFill>
              </a:rPr>
              <a:t>Tasks</a:t>
            </a:r>
            <a:r>
              <a:rPr lang="fr-FR" sz="1600" noProof="0" dirty="0">
                <a:solidFill>
                  <a:schemeClr val="tx2"/>
                </a:solidFill>
              </a:rPr>
              <a:t> (Hand </a:t>
            </a:r>
            <a:r>
              <a:rPr lang="fr-FR" sz="1600" noProof="0" dirty="0" err="1">
                <a:solidFill>
                  <a:schemeClr val="tx2"/>
                </a:solidFill>
              </a:rPr>
              <a:t>Landmarker</a:t>
            </a:r>
            <a:r>
              <a:rPr lang="fr-FR" sz="1600" noProof="0" dirty="0">
                <a:solidFill>
                  <a:schemeClr val="tx2"/>
                </a:solidFill>
              </a:rPr>
              <a:t>) : un réseau de neurones pré-entraîné (</a:t>
            </a:r>
            <a:r>
              <a:rPr lang="fr-FR" sz="1600" noProof="0" dirty="0" err="1">
                <a:solidFill>
                  <a:schemeClr val="tx2"/>
                </a:solidFill>
              </a:rPr>
              <a:t>hand_landmarker.task</a:t>
            </a:r>
            <a:r>
              <a:rPr lang="fr-FR" sz="1600" noProof="0" dirty="0">
                <a:solidFill>
                  <a:schemeClr val="tx2"/>
                </a:solidFill>
              </a:rPr>
              <a:t>) prédit les repères de la main. </a:t>
            </a:r>
            <a:r>
              <a:rPr lang="fr-FR" sz="1600" noProof="0" dirty="0" err="1">
                <a:solidFill>
                  <a:schemeClr val="tx2"/>
                </a:solidFill>
              </a:rPr>
              <a:t>OpenCV</a:t>
            </a:r>
            <a:r>
              <a:rPr lang="fr-FR" sz="1600" noProof="0" dirty="0">
                <a:solidFill>
                  <a:schemeClr val="tx2"/>
                </a:solidFill>
              </a:rPr>
              <a:t> gère la capture et le dessin, </a:t>
            </a:r>
            <a:r>
              <a:rPr lang="fr-FR" sz="1600" noProof="0" dirty="0" err="1">
                <a:solidFill>
                  <a:schemeClr val="tx2"/>
                </a:solidFill>
              </a:rPr>
              <a:t>NumPy</a:t>
            </a:r>
            <a:r>
              <a:rPr lang="fr-FR" sz="1600" noProof="0" dirty="0">
                <a:solidFill>
                  <a:schemeClr val="tx2"/>
                </a:solidFill>
              </a:rPr>
              <a:t> les calculs.</a:t>
            </a:r>
            <a:endParaRPr lang="fr-FR" sz="1600" noProof="0" dirty="0"/>
          </a:p>
        </p:txBody>
      </p:sp>
      <p:sp>
        <p:nvSpPr>
          <p:cNvPr id="14" name="Carte objectifs"/>
          <p:cNvSpPr/>
          <p:nvPr/>
        </p:nvSpPr>
        <p:spPr>
          <a:xfrm>
            <a:off x="7589520" y="1828800"/>
            <a:ext cx="3959352" cy="4389120"/>
          </a:xfrm>
          <a:prstGeom prst="roundRect">
            <a:avLst>
              <a:gd name="adj" fmla="val 2771"/>
            </a:avLst>
          </a:prstGeom>
          <a:solidFill>
            <a:schemeClr val="tx1"/>
          </a:solidFill>
          <a:ln/>
          <a:effectLst>
            <a:outerShdw blurRad="152400" dist="38100" dir="5400000" algn="bl" rotWithShape="0">
              <a:srgbClr val="0F172A">
                <a:alpha val="12000"/>
              </a:srgbClr>
            </a:outerShdw>
          </a:effectLst>
        </p:spPr>
        <p:txBody>
          <a:bodyPr/>
          <a:lstStyle/>
          <a:p>
            <a:endParaRPr lang="fr-FR" noProof="0" dirty="0"/>
          </a:p>
        </p:txBody>
      </p:sp>
      <p:sp>
        <p:nvSpPr>
          <p:cNvPr id="15" name="Text 11"/>
          <p:cNvSpPr txBox="1"/>
          <p:nvPr/>
        </p:nvSpPr>
        <p:spPr>
          <a:xfrm>
            <a:off x="7909560" y="2103120"/>
            <a:ext cx="3383280" cy="457200"/>
          </a:xfrm>
          <a:prstGeom prst="rect">
            <a:avLst/>
          </a:prstGeom>
          <a:noFill/>
          <a:ln/>
        </p:spPr>
        <p:txBody>
          <a:bodyPr wrap="square" lIns="0" tIns="0" rIns="0" bIns="0" rtlCol="0" anchor="ctr"/>
          <a:lstStyle/>
          <a:p>
            <a:pPr marL="0" indent="0">
              <a:buNone/>
            </a:pPr>
            <a:r>
              <a:rPr lang="fr-FR" sz="2200" b="1" noProof="0" dirty="0">
                <a:solidFill>
                  <a:schemeClr val="bg1"/>
                </a:solidFill>
              </a:rPr>
              <a:t>Objectifs clés</a:t>
            </a:r>
            <a:endParaRPr lang="fr-FR" sz="2200" noProof="0" dirty="0"/>
          </a:p>
        </p:txBody>
      </p:sp>
      <p:sp>
        <p:nvSpPr>
          <p:cNvPr id="16" name="Pastille objectif 1"/>
          <p:cNvSpPr/>
          <p:nvPr/>
        </p:nvSpPr>
        <p:spPr>
          <a:xfrm>
            <a:off x="7909560" y="2880360"/>
            <a:ext cx="548640" cy="548640"/>
          </a:xfrm>
          <a:prstGeom prst="ellipse">
            <a:avLst/>
          </a:prstGeom>
          <a:solidFill>
            <a:schemeClr val="accent1"/>
          </a:solidFill>
          <a:ln/>
        </p:spPr>
        <p:txBody>
          <a:bodyPr/>
          <a:lstStyle/>
          <a:p>
            <a:endParaRPr lang="fr-FR" noProof="0" dirty="0"/>
          </a:p>
        </p:txBody>
      </p:sp>
      <p:pic>
        <p:nvPicPr>
          <p:cNvPr id="17" name="Icône objectif 1" descr="preencoded.png"/>
          <p:cNvPicPr>
            <a:picLocks noChangeAspect="1"/>
          </p:cNvPicPr>
          <p:nvPr/>
        </p:nvPicPr>
        <p:blipFill>
          <a:blip r:embed="rId5"/>
          <a:stretch>
            <a:fillRect/>
          </a:stretch>
        </p:blipFill>
        <p:spPr>
          <a:xfrm>
            <a:off x="8046720" y="3017520"/>
            <a:ext cx="274320" cy="274320"/>
          </a:xfrm>
          <a:prstGeom prst="rect">
            <a:avLst/>
          </a:prstGeom>
        </p:spPr>
      </p:pic>
      <p:sp>
        <p:nvSpPr>
          <p:cNvPr id="18" name="Text 13"/>
          <p:cNvSpPr txBox="1"/>
          <p:nvPr/>
        </p:nvSpPr>
        <p:spPr>
          <a:xfrm>
            <a:off x="8686800" y="2788920"/>
            <a:ext cx="2651760" cy="1005840"/>
          </a:xfrm>
          <a:prstGeom prst="rect">
            <a:avLst/>
          </a:prstGeom>
          <a:noFill/>
          <a:ln/>
        </p:spPr>
        <p:txBody>
          <a:bodyPr wrap="square" lIns="0" tIns="0" rIns="0" bIns="0" rtlCol="0" anchor="t"/>
          <a:lstStyle/>
          <a:p>
            <a:pPr marL="0" indent="0">
              <a:buNone/>
            </a:pPr>
            <a:r>
              <a:rPr lang="fr-FR" sz="1600" noProof="0" dirty="0" err="1">
                <a:solidFill>
                  <a:schemeClr val="bg1"/>
                </a:solidFill>
              </a:rPr>
              <a:t>Tracking</a:t>
            </a:r>
            <a:r>
              <a:rPr lang="fr-FR" sz="1600" noProof="0" dirty="0">
                <a:solidFill>
                  <a:schemeClr val="bg1"/>
                </a:solidFill>
              </a:rPr>
              <a:t> temps réel fluide, avec retour miroir</a:t>
            </a:r>
            <a:endParaRPr lang="fr-FR" sz="1600" noProof="0" dirty="0"/>
          </a:p>
        </p:txBody>
      </p:sp>
      <p:sp>
        <p:nvSpPr>
          <p:cNvPr id="19" name="Pastille objectif 2"/>
          <p:cNvSpPr/>
          <p:nvPr/>
        </p:nvSpPr>
        <p:spPr>
          <a:xfrm>
            <a:off x="7909560" y="3977640"/>
            <a:ext cx="548640" cy="548640"/>
          </a:xfrm>
          <a:prstGeom prst="ellipse">
            <a:avLst/>
          </a:prstGeom>
          <a:solidFill>
            <a:schemeClr val="accent1"/>
          </a:solidFill>
          <a:ln/>
        </p:spPr>
        <p:txBody>
          <a:bodyPr/>
          <a:lstStyle/>
          <a:p>
            <a:endParaRPr lang="fr-FR" noProof="0" dirty="0"/>
          </a:p>
        </p:txBody>
      </p:sp>
      <p:pic>
        <p:nvPicPr>
          <p:cNvPr id="20" name="Icône objectif 2" descr="preencoded.png"/>
          <p:cNvPicPr>
            <a:picLocks noChangeAspect="1"/>
          </p:cNvPicPr>
          <p:nvPr/>
        </p:nvPicPr>
        <p:blipFill>
          <a:blip r:embed="rId6"/>
          <a:stretch>
            <a:fillRect/>
          </a:stretch>
        </p:blipFill>
        <p:spPr>
          <a:xfrm>
            <a:off x="8046720" y="4114800"/>
            <a:ext cx="274320" cy="274320"/>
          </a:xfrm>
          <a:prstGeom prst="rect">
            <a:avLst/>
          </a:prstGeom>
        </p:spPr>
      </p:pic>
      <p:sp>
        <p:nvSpPr>
          <p:cNvPr id="21" name="Text 15"/>
          <p:cNvSpPr txBox="1"/>
          <p:nvPr/>
        </p:nvSpPr>
        <p:spPr>
          <a:xfrm>
            <a:off x="8686800" y="3886200"/>
            <a:ext cx="2651760" cy="1005840"/>
          </a:xfrm>
          <a:prstGeom prst="rect">
            <a:avLst/>
          </a:prstGeom>
          <a:noFill/>
          <a:ln/>
        </p:spPr>
        <p:txBody>
          <a:bodyPr wrap="square" lIns="0" tIns="0" rIns="0" bIns="0" rtlCol="0" anchor="t"/>
          <a:lstStyle/>
          <a:p>
            <a:pPr marL="0" indent="0">
              <a:buNone/>
            </a:pPr>
            <a:r>
              <a:rPr lang="fr-FR" sz="1600" noProof="0" dirty="0">
                <a:solidFill>
                  <a:schemeClr val="bg1"/>
                </a:solidFill>
              </a:rPr>
              <a:t>Détection simultanée de 2 mains</a:t>
            </a:r>
            <a:endParaRPr lang="fr-FR" sz="1600" noProof="0" dirty="0"/>
          </a:p>
        </p:txBody>
      </p:sp>
      <p:sp>
        <p:nvSpPr>
          <p:cNvPr id="22" name="Pastille objectif 3"/>
          <p:cNvSpPr/>
          <p:nvPr/>
        </p:nvSpPr>
        <p:spPr>
          <a:xfrm>
            <a:off x="7909560" y="5074920"/>
            <a:ext cx="548640" cy="548640"/>
          </a:xfrm>
          <a:prstGeom prst="ellipse">
            <a:avLst/>
          </a:prstGeom>
          <a:solidFill>
            <a:schemeClr val="accent1"/>
          </a:solidFill>
          <a:ln/>
        </p:spPr>
        <p:txBody>
          <a:bodyPr/>
          <a:lstStyle/>
          <a:p>
            <a:endParaRPr lang="fr-FR" noProof="0" dirty="0"/>
          </a:p>
        </p:txBody>
      </p:sp>
      <p:pic>
        <p:nvPicPr>
          <p:cNvPr id="23" name="Icône objectif 3" descr="preencoded.png"/>
          <p:cNvPicPr>
            <a:picLocks noChangeAspect="1"/>
          </p:cNvPicPr>
          <p:nvPr/>
        </p:nvPicPr>
        <p:blipFill>
          <a:blip r:embed="rId7"/>
          <a:stretch>
            <a:fillRect/>
          </a:stretch>
        </p:blipFill>
        <p:spPr>
          <a:xfrm>
            <a:off x="8046720" y="5212080"/>
            <a:ext cx="274320" cy="274320"/>
          </a:xfrm>
          <a:prstGeom prst="rect">
            <a:avLst/>
          </a:prstGeom>
        </p:spPr>
      </p:pic>
      <p:sp>
        <p:nvSpPr>
          <p:cNvPr id="24" name="Text 17"/>
          <p:cNvSpPr txBox="1"/>
          <p:nvPr/>
        </p:nvSpPr>
        <p:spPr>
          <a:xfrm>
            <a:off x="8686800" y="4983480"/>
            <a:ext cx="2651760" cy="1005840"/>
          </a:xfrm>
          <a:prstGeom prst="rect">
            <a:avLst/>
          </a:prstGeom>
          <a:noFill/>
          <a:ln/>
        </p:spPr>
        <p:txBody>
          <a:bodyPr wrap="square" lIns="0" tIns="0" rIns="0" bIns="0" rtlCol="0" anchor="t"/>
          <a:lstStyle/>
          <a:p>
            <a:pPr marL="0" indent="0">
              <a:buNone/>
            </a:pPr>
            <a:r>
              <a:rPr lang="fr-FR" sz="1600" noProof="0" dirty="0">
                <a:solidFill>
                  <a:schemeClr val="bg1"/>
                </a:solidFill>
              </a:rPr>
              <a:t>Squelette à 21 repères, comptage des doigts, gestes et effet de proximité</a:t>
            </a:r>
            <a:endParaRPr lang="fr-FR" sz="1600" noProof="0" dirty="0"/>
          </a:p>
        </p:txBody>
      </p:sp>
      <p:sp>
        <p:nvSpPr>
          <p:cNvPr id="25" name="Slide Number Placeholder 0"/>
          <p:cNvSpPr>
            <a:spLocks noGrp="1"/>
          </p:cNvSpPr>
          <p:nvPr>
            <p:ph type="sldNum" sz="quarter" idx="4294967295"/>
          </p:nvPr>
        </p:nvSpPr>
        <p:spPr>
          <a:xfrm>
            <a:off x="10881360" y="6382512"/>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fr-FR" b="0" noProof="0" smtClean="0"/>
              <a:t>2</a:t>
            </a:fld>
            <a:endParaRPr lang="fr-FR"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D63DC-296C-AE40-4882-E30DB75409D8}"/>
            </a:ext>
          </a:extLst>
        </p:cNvPr>
        <p:cNvGrpSpPr/>
        <p:nvPr/>
      </p:nvGrpSpPr>
      <p:grpSpPr>
        <a:xfrm>
          <a:off x="0" y="0"/>
          <a:ext cx="0" cy="0"/>
          <a:chOff x="0" y="0"/>
          <a:chExt cx="0" cy="0"/>
        </a:xfrm>
      </p:grpSpPr>
      <p:sp>
        <p:nvSpPr>
          <p:cNvPr id="2" name="Text 2">
            <a:extLst>
              <a:ext uri="{FF2B5EF4-FFF2-40B4-BE49-F238E27FC236}">
                <a16:creationId xmlns:a16="http://schemas.microsoft.com/office/drawing/2014/main" id="{287EEE03-E836-5CB7-8890-8061F16D2EB8}"/>
              </a:ext>
            </a:extLst>
          </p:cNvPr>
          <p:cNvSpPr>
            <a:spLocks noGrp="1"/>
          </p:cNvSpPr>
          <p:nvPr>
            <p:ph type="body" idx="102" hasCustomPrompt="1"/>
          </p:nvPr>
        </p:nvSpPr>
        <p:spPr>
          <a:xfrm>
            <a:off x="640080" y="411480"/>
            <a:ext cx="7315200" cy="274320"/>
          </a:xfrm>
          <a:prstGeom prst="rect">
            <a:avLst/>
          </a:prstGeom>
          <a:noFill/>
          <a:ln/>
        </p:spPr>
        <p:txBody>
          <a:bodyPr wrap="square" lIns="0" tIns="0" rIns="0" bIns="0" rtlCol="0" anchor="ctr"/>
          <a:lstStyle/>
          <a:p>
            <a:pPr marL="0" indent="0">
              <a:buNone/>
            </a:pPr>
            <a:r>
              <a:rPr lang="fr-FR" sz="1200" b="1" kern="0" spc="300" noProof="0" dirty="0">
                <a:solidFill>
                  <a:schemeClr val="accent4"/>
                </a:solidFill>
              </a:rPr>
              <a:t>PARTIE 1 — </a:t>
            </a:r>
            <a:r>
              <a:rPr lang="fr-FR" noProof="0" dirty="0"/>
              <a:t>PRÉSENTATION &amp; CONTEXTE</a:t>
            </a:r>
            <a:endParaRPr lang="fr-FR" sz="1200" noProof="0" dirty="0"/>
          </a:p>
        </p:txBody>
      </p:sp>
      <p:sp>
        <p:nvSpPr>
          <p:cNvPr id="3" name="Text 2">
            <a:extLst>
              <a:ext uri="{FF2B5EF4-FFF2-40B4-BE49-F238E27FC236}">
                <a16:creationId xmlns:a16="http://schemas.microsoft.com/office/drawing/2014/main" id="{274AEE62-D27C-5AE2-40F5-5693AB692D7E}"/>
              </a:ext>
            </a:extLst>
          </p:cNvPr>
          <p:cNvSpPr>
            <a:spLocks noGrp="1"/>
          </p:cNvSpPr>
          <p:nvPr>
            <p:ph type="title" idx="103" hasCustomPrompt="1"/>
          </p:nvPr>
        </p:nvSpPr>
        <p:spPr>
          <a:xfrm>
            <a:off x="640080" y="731520"/>
            <a:ext cx="10881360" cy="868680"/>
          </a:xfrm>
          <a:prstGeom prst="rect">
            <a:avLst/>
          </a:prstGeom>
          <a:noFill/>
          <a:ln/>
        </p:spPr>
        <p:txBody>
          <a:bodyPr wrap="square" lIns="0" tIns="0" rIns="0" bIns="0" rtlCol="0" anchor="ctr"/>
          <a:lstStyle/>
          <a:p>
            <a:pPr marL="0" indent="0" algn="l">
              <a:buNone/>
            </a:pPr>
            <a:r>
              <a:rPr lang="fr-FR" sz="3600" b="1" noProof="0" dirty="0">
                <a:solidFill>
                  <a:schemeClr val="tx1"/>
                </a:solidFill>
              </a:rPr>
              <a:t>Présentation de l'application &amp; contexte</a:t>
            </a:r>
            <a:endParaRPr lang="fr-FR" sz="3600" noProof="0" dirty="0"/>
          </a:p>
        </p:txBody>
      </p:sp>
      <p:sp>
        <p:nvSpPr>
          <p:cNvPr id="25" name="Slide Number Placeholder 0">
            <a:extLst>
              <a:ext uri="{FF2B5EF4-FFF2-40B4-BE49-F238E27FC236}">
                <a16:creationId xmlns:a16="http://schemas.microsoft.com/office/drawing/2014/main" id="{DD2312CF-20DC-895F-2374-E2E1A2FA222D}"/>
              </a:ext>
            </a:extLst>
          </p:cNvPr>
          <p:cNvSpPr>
            <a:spLocks noGrp="1"/>
          </p:cNvSpPr>
          <p:nvPr>
            <p:ph type="sldNum" sz="quarter" idx="4294967295"/>
          </p:nvPr>
        </p:nvSpPr>
        <p:spPr>
          <a:xfrm>
            <a:off x="10881360" y="6382512"/>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fr-FR" b="0" noProof="0" smtClean="0"/>
              <a:t>3</a:t>
            </a:fld>
            <a:endParaRPr lang="fr-FR" noProof="0" dirty="0"/>
          </a:p>
        </p:txBody>
      </p:sp>
      <p:pic>
        <p:nvPicPr>
          <p:cNvPr id="29" name="Image 28">
            <a:extLst>
              <a:ext uri="{FF2B5EF4-FFF2-40B4-BE49-F238E27FC236}">
                <a16:creationId xmlns:a16="http://schemas.microsoft.com/office/drawing/2014/main" id="{367E468A-FEEB-77DA-5362-C55FC615C4D3}"/>
              </a:ext>
            </a:extLst>
          </p:cNvPr>
          <p:cNvPicPr>
            <a:picLocks noChangeAspect="1"/>
          </p:cNvPicPr>
          <p:nvPr/>
        </p:nvPicPr>
        <p:blipFill>
          <a:blip r:embed="rId3"/>
          <a:stretch>
            <a:fillRect/>
          </a:stretch>
        </p:blipFill>
        <p:spPr>
          <a:xfrm>
            <a:off x="6312568" y="2366338"/>
            <a:ext cx="4827230" cy="3615763"/>
          </a:xfrm>
          <a:prstGeom prst="rect">
            <a:avLst/>
          </a:prstGeom>
        </p:spPr>
      </p:pic>
      <p:pic>
        <p:nvPicPr>
          <p:cNvPr id="31" name="Image 30">
            <a:extLst>
              <a:ext uri="{FF2B5EF4-FFF2-40B4-BE49-F238E27FC236}">
                <a16:creationId xmlns:a16="http://schemas.microsoft.com/office/drawing/2014/main" id="{75302BE4-D511-9715-A092-8201A8F33FA7}"/>
              </a:ext>
            </a:extLst>
          </p:cNvPr>
          <p:cNvPicPr>
            <a:picLocks noChangeAspect="1"/>
          </p:cNvPicPr>
          <p:nvPr/>
        </p:nvPicPr>
        <p:blipFill>
          <a:blip r:embed="rId4"/>
          <a:stretch>
            <a:fillRect/>
          </a:stretch>
        </p:blipFill>
        <p:spPr>
          <a:xfrm>
            <a:off x="640080" y="2342490"/>
            <a:ext cx="4827230" cy="3591915"/>
          </a:xfrm>
          <a:prstGeom prst="rect">
            <a:avLst/>
          </a:prstGeom>
        </p:spPr>
      </p:pic>
      <p:sp>
        <p:nvSpPr>
          <p:cNvPr id="32" name="Text 2">
            <a:extLst>
              <a:ext uri="{FF2B5EF4-FFF2-40B4-BE49-F238E27FC236}">
                <a16:creationId xmlns:a16="http://schemas.microsoft.com/office/drawing/2014/main" id="{76019CC7-28A7-6D60-06E9-6DFCC17F2C00}"/>
              </a:ext>
            </a:extLst>
          </p:cNvPr>
          <p:cNvSpPr txBox="1">
            <a:spLocks/>
          </p:cNvSpPr>
          <p:nvPr/>
        </p:nvSpPr>
        <p:spPr>
          <a:xfrm>
            <a:off x="2222714" y="1505696"/>
            <a:ext cx="1661962" cy="86868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600" b="1" kern="1200" dirty="0">
                <a:solidFill>
                  <a:schemeClr val="tx1"/>
                </a:solidFill>
                <a:latin typeface="+mj-lt"/>
                <a:ea typeface="+mj-ea"/>
                <a:cs typeface="+mj-cs"/>
              </a:defRPr>
            </a:lvl1pPr>
          </a:lstStyle>
          <a:p>
            <a:r>
              <a:rPr lang="fr-FR" sz="2000" dirty="0"/>
              <a:t>Sans API </a:t>
            </a:r>
            <a:r>
              <a:rPr lang="fr-FR" sz="2000" dirty="0" err="1"/>
              <a:t>Task</a:t>
            </a:r>
            <a:endParaRPr lang="fr-FR" sz="2000" dirty="0"/>
          </a:p>
        </p:txBody>
      </p:sp>
      <p:sp>
        <p:nvSpPr>
          <p:cNvPr id="34" name="Text 2">
            <a:extLst>
              <a:ext uri="{FF2B5EF4-FFF2-40B4-BE49-F238E27FC236}">
                <a16:creationId xmlns:a16="http://schemas.microsoft.com/office/drawing/2014/main" id="{09106637-FDC0-7E45-0224-813E88042721}"/>
              </a:ext>
            </a:extLst>
          </p:cNvPr>
          <p:cNvSpPr txBox="1">
            <a:spLocks/>
          </p:cNvSpPr>
          <p:nvPr/>
        </p:nvSpPr>
        <p:spPr>
          <a:xfrm>
            <a:off x="7955280" y="1531587"/>
            <a:ext cx="1661962" cy="86868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600" b="1" kern="1200" dirty="0">
                <a:solidFill>
                  <a:schemeClr val="tx1"/>
                </a:solidFill>
                <a:latin typeface="+mj-lt"/>
                <a:ea typeface="+mj-ea"/>
                <a:cs typeface="+mj-cs"/>
              </a:defRPr>
            </a:lvl1pPr>
          </a:lstStyle>
          <a:p>
            <a:r>
              <a:rPr lang="fr-FR" sz="2000" dirty="0"/>
              <a:t>Avec API </a:t>
            </a:r>
            <a:r>
              <a:rPr lang="fr-FR" sz="2000" dirty="0" err="1"/>
              <a:t>Task</a:t>
            </a:r>
            <a:endParaRPr lang="fr-FR" sz="2000" dirty="0"/>
          </a:p>
        </p:txBody>
      </p:sp>
    </p:spTree>
    <p:extLst>
      <p:ext uri="{BB962C8B-B14F-4D97-AF65-F5344CB8AC3E}">
        <p14:creationId xmlns:p14="http://schemas.microsoft.com/office/powerpoint/2010/main" val="33807865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a:spLocks noGrp="1"/>
          </p:cNvSpPr>
          <p:nvPr>
            <p:ph type="body" idx="102" hasCustomPrompt="1"/>
          </p:nvPr>
        </p:nvSpPr>
        <p:spPr>
          <a:xfrm>
            <a:off x="640080" y="411480"/>
            <a:ext cx="7315200" cy="274320"/>
          </a:xfrm>
          <a:prstGeom prst="rect">
            <a:avLst/>
          </a:prstGeom>
          <a:noFill/>
          <a:ln/>
        </p:spPr>
        <p:txBody>
          <a:bodyPr wrap="square" lIns="0" tIns="0" rIns="0" bIns="0" rtlCol="0" anchor="ctr"/>
          <a:lstStyle/>
          <a:p>
            <a:pPr marL="0" indent="0">
              <a:buNone/>
            </a:pPr>
            <a:r>
              <a:rPr lang="fr-FR" sz="1200" b="1" kern="0" spc="300" noProof="0" dirty="0">
                <a:solidFill>
                  <a:schemeClr val="accent4"/>
                </a:solidFill>
              </a:rPr>
              <a:t>PARTIE 2 — MÉTHODOLOGIE</a:t>
            </a:r>
            <a:endParaRPr lang="fr-FR" sz="1200" noProof="0" dirty="0"/>
          </a:p>
        </p:txBody>
      </p:sp>
      <p:sp>
        <p:nvSpPr>
          <p:cNvPr id="3" name="Text 2"/>
          <p:cNvSpPr>
            <a:spLocks noGrp="1"/>
          </p:cNvSpPr>
          <p:nvPr>
            <p:ph type="title" idx="103" hasCustomPrompt="1"/>
          </p:nvPr>
        </p:nvSpPr>
        <p:spPr>
          <a:xfrm>
            <a:off x="640080" y="731520"/>
            <a:ext cx="10881360" cy="868680"/>
          </a:xfrm>
          <a:prstGeom prst="rect">
            <a:avLst/>
          </a:prstGeom>
          <a:noFill/>
          <a:ln/>
        </p:spPr>
        <p:txBody>
          <a:bodyPr wrap="square" lIns="0" tIns="0" rIns="0" bIns="0" rtlCol="0" anchor="ctr"/>
          <a:lstStyle/>
          <a:p>
            <a:pPr marL="0" indent="0" algn="l">
              <a:buNone/>
            </a:pPr>
            <a:r>
              <a:rPr lang="fr-FR" sz="3600" b="1" noProof="0" dirty="0">
                <a:solidFill>
                  <a:schemeClr val="tx1"/>
                </a:solidFill>
              </a:rPr>
              <a:t>Méthodologie : détection </a:t>
            </a:r>
            <a:r>
              <a:rPr lang="fr-FR" sz="3600" b="1" noProof="0" dirty="0" err="1">
                <a:solidFill>
                  <a:schemeClr val="tx1"/>
                </a:solidFill>
              </a:rPr>
              <a:t>MediaPipe</a:t>
            </a:r>
            <a:r>
              <a:rPr lang="fr-FR" sz="3600" b="1" noProof="0" dirty="0">
                <a:solidFill>
                  <a:schemeClr val="tx1"/>
                </a:solidFill>
              </a:rPr>
              <a:t> </a:t>
            </a:r>
            <a:r>
              <a:rPr lang="fr-FR" sz="3600" b="1" noProof="0" dirty="0" err="1">
                <a:solidFill>
                  <a:schemeClr val="tx1"/>
                </a:solidFill>
              </a:rPr>
              <a:t>Tasks</a:t>
            </a:r>
            <a:endParaRPr lang="fr-FR" sz="3600" noProof="0" dirty="0"/>
          </a:p>
        </p:txBody>
      </p:sp>
      <p:sp>
        <p:nvSpPr>
          <p:cNvPr id="4" name="Carte étape 1"/>
          <p:cNvSpPr/>
          <p:nvPr/>
        </p:nvSpPr>
        <p:spPr>
          <a:xfrm>
            <a:off x="640080" y="1828800"/>
            <a:ext cx="3429000" cy="4389120"/>
          </a:xfrm>
          <a:prstGeom prst="roundRect">
            <a:avLst>
              <a:gd name="adj" fmla="val 3200"/>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5" name="Pastille 1"/>
          <p:cNvSpPr/>
          <p:nvPr/>
        </p:nvSpPr>
        <p:spPr>
          <a:xfrm>
            <a:off x="960120" y="2148840"/>
            <a:ext cx="640080" cy="640080"/>
          </a:xfrm>
          <a:prstGeom prst="ellipse">
            <a:avLst/>
          </a:prstGeom>
          <a:solidFill>
            <a:schemeClr val="accent4"/>
          </a:solidFill>
          <a:ln/>
        </p:spPr>
        <p:txBody>
          <a:bodyPr/>
          <a:lstStyle/>
          <a:p>
            <a:endParaRPr lang="fr-FR" noProof="0" dirty="0"/>
          </a:p>
        </p:txBody>
      </p:sp>
      <p:sp>
        <p:nvSpPr>
          <p:cNvPr id="6" name="Numéro 1"/>
          <p:cNvSpPr txBox="1"/>
          <p:nvPr/>
        </p:nvSpPr>
        <p:spPr>
          <a:xfrm>
            <a:off x="960120" y="2148840"/>
            <a:ext cx="640080" cy="640080"/>
          </a:xfrm>
          <a:prstGeom prst="rect">
            <a:avLst/>
          </a:prstGeom>
          <a:noFill/>
          <a:ln/>
        </p:spPr>
        <p:txBody>
          <a:bodyPr wrap="square" lIns="0" tIns="0" rIns="0" bIns="0" rtlCol="0" anchor="ctr"/>
          <a:lstStyle/>
          <a:p>
            <a:pPr marL="0" indent="0" algn="ctr">
              <a:buNone/>
            </a:pPr>
            <a:r>
              <a:rPr lang="fr-FR" sz="2400" b="1" noProof="0" dirty="0">
                <a:solidFill>
                  <a:schemeClr val="bg1"/>
                </a:solidFill>
                <a:latin typeface="Cambria" pitchFamily="34" charset="0"/>
                <a:ea typeface="Cambria" pitchFamily="34" charset="-122"/>
                <a:cs typeface="Cambria" pitchFamily="34" charset="-120"/>
              </a:rPr>
              <a:t>1</a:t>
            </a:r>
            <a:endParaRPr lang="fr-FR" sz="2400" noProof="0" dirty="0"/>
          </a:p>
        </p:txBody>
      </p:sp>
      <p:sp>
        <p:nvSpPr>
          <p:cNvPr id="7" name="Text 5"/>
          <p:cNvSpPr txBox="1"/>
          <p:nvPr/>
        </p:nvSpPr>
        <p:spPr>
          <a:xfrm>
            <a:off x="960120" y="2971800"/>
            <a:ext cx="2788920" cy="914400"/>
          </a:xfrm>
          <a:prstGeom prst="rect">
            <a:avLst/>
          </a:prstGeom>
          <a:noFill/>
          <a:ln/>
        </p:spPr>
        <p:txBody>
          <a:bodyPr wrap="square" lIns="0" tIns="0" rIns="0" bIns="0" rtlCol="0" anchor="t"/>
          <a:lstStyle/>
          <a:p>
            <a:pPr marL="0" indent="0">
              <a:buNone/>
            </a:pPr>
            <a:r>
              <a:rPr lang="fr-FR" sz="1800" b="1" noProof="0" dirty="0">
                <a:solidFill>
                  <a:schemeClr val="tx1"/>
                </a:solidFill>
              </a:rPr>
              <a:t>Initialisation du Hand </a:t>
            </a:r>
            <a:r>
              <a:rPr lang="fr-FR" sz="1800" b="1" noProof="0" dirty="0" err="1">
                <a:solidFill>
                  <a:schemeClr val="tx1"/>
                </a:solidFill>
              </a:rPr>
              <a:t>Landmarker</a:t>
            </a:r>
            <a:endParaRPr lang="fr-FR" sz="1800" noProof="0" dirty="0"/>
          </a:p>
        </p:txBody>
      </p:sp>
      <p:sp>
        <p:nvSpPr>
          <p:cNvPr id="8" name="Text 6"/>
          <p:cNvSpPr txBox="1"/>
          <p:nvPr/>
        </p:nvSpPr>
        <p:spPr>
          <a:xfrm>
            <a:off x="960120" y="3931920"/>
            <a:ext cx="2788920" cy="2103120"/>
          </a:xfrm>
          <a:prstGeom prst="rect">
            <a:avLst/>
          </a:prstGeom>
          <a:noFill/>
          <a:ln/>
        </p:spPr>
        <p:txBody>
          <a:bodyPr wrap="square" lIns="0" tIns="0" rIns="0" bIns="0" rtlCol="0" anchor="t"/>
          <a:lstStyle/>
          <a:p>
            <a:pPr marL="0" indent="0">
              <a:buNone/>
            </a:pPr>
            <a:r>
              <a:rPr lang="fr-FR" sz="1500" noProof="0" dirty="0">
                <a:solidFill>
                  <a:schemeClr val="tx2"/>
                </a:solidFill>
              </a:rPr>
              <a:t>Chargement du modèle </a:t>
            </a:r>
            <a:r>
              <a:rPr lang="fr-FR" sz="1500" noProof="0" dirty="0" err="1">
                <a:solidFill>
                  <a:schemeClr val="tx2"/>
                </a:solidFill>
              </a:rPr>
              <a:t>hand_landmarker.task</a:t>
            </a:r>
            <a:r>
              <a:rPr lang="fr-FR" sz="1500" noProof="0" dirty="0">
                <a:solidFill>
                  <a:schemeClr val="tx2"/>
                </a:solidFill>
              </a:rPr>
              <a:t> via </a:t>
            </a:r>
            <a:r>
              <a:rPr lang="fr-FR" sz="1500" noProof="0" dirty="0" err="1">
                <a:solidFill>
                  <a:schemeClr val="tx2"/>
                </a:solidFill>
              </a:rPr>
              <a:t>BaseOptions</a:t>
            </a:r>
            <a:r>
              <a:rPr lang="fr-FR" sz="1500" noProof="0" dirty="0">
                <a:solidFill>
                  <a:schemeClr val="tx2"/>
                </a:solidFill>
              </a:rPr>
              <a:t>. Paramètres : 2 mains maximum, confiance de détection ≥ 0,7 et confiance de suivi ≥ 0,5.</a:t>
            </a:r>
            <a:endParaRPr lang="fr-FR" sz="1500" noProof="0" dirty="0"/>
          </a:p>
        </p:txBody>
      </p:sp>
      <p:sp>
        <p:nvSpPr>
          <p:cNvPr id="9" name="Carte étape 2"/>
          <p:cNvSpPr/>
          <p:nvPr/>
        </p:nvSpPr>
        <p:spPr>
          <a:xfrm>
            <a:off x="4379976" y="1828800"/>
            <a:ext cx="3429000" cy="4389120"/>
          </a:xfrm>
          <a:prstGeom prst="roundRect">
            <a:avLst>
              <a:gd name="adj" fmla="val 3200"/>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10" name="Pastille 2"/>
          <p:cNvSpPr/>
          <p:nvPr/>
        </p:nvSpPr>
        <p:spPr>
          <a:xfrm>
            <a:off x="4700016" y="2148840"/>
            <a:ext cx="640080" cy="640080"/>
          </a:xfrm>
          <a:prstGeom prst="ellipse">
            <a:avLst/>
          </a:prstGeom>
          <a:solidFill>
            <a:schemeClr val="accent4"/>
          </a:solidFill>
          <a:ln/>
        </p:spPr>
        <p:txBody>
          <a:bodyPr/>
          <a:lstStyle/>
          <a:p>
            <a:endParaRPr lang="fr-FR" noProof="0" dirty="0"/>
          </a:p>
        </p:txBody>
      </p:sp>
      <p:sp>
        <p:nvSpPr>
          <p:cNvPr id="11" name="Numéro 2"/>
          <p:cNvSpPr txBox="1"/>
          <p:nvPr/>
        </p:nvSpPr>
        <p:spPr>
          <a:xfrm>
            <a:off x="4700016" y="2148840"/>
            <a:ext cx="640080" cy="640080"/>
          </a:xfrm>
          <a:prstGeom prst="rect">
            <a:avLst/>
          </a:prstGeom>
          <a:noFill/>
          <a:ln/>
        </p:spPr>
        <p:txBody>
          <a:bodyPr wrap="square" lIns="0" tIns="0" rIns="0" bIns="0" rtlCol="0" anchor="ctr"/>
          <a:lstStyle/>
          <a:p>
            <a:pPr marL="0" indent="0" algn="ctr">
              <a:buNone/>
            </a:pPr>
            <a:r>
              <a:rPr lang="fr-FR" sz="2400" b="1" noProof="0" dirty="0">
                <a:solidFill>
                  <a:schemeClr val="bg1"/>
                </a:solidFill>
                <a:latin typeface="Cambria" pitchFamily="34" charset="0"/>
                <a:ea typeface="Cambria" pitchFamily="34" charset="-122"/>
                <a:cs typeface="Cambria" pitchFamily="34" charset="-120"/>
              </a:rPr>
              <a:t>2</a:t>
            </a:r>
            <a:endParaRPr lang="fr-FR" sz="2400" noProof="0" dirty="0"/>
          </a:p>
        </p:txBody>
      </p:sp>
      <p:sp>
        <p:nvSpPr>
          <p:cNvPr id="12" name="Text 10"/>
          <p:cNvSpPr txBox="1"/>
          <p:nvPr/>
        </p:nvSpPr>
        <p:spPr>
          <a:xfrm>
            <a:off x="4700016" y="2971800"/>
            <a:ext cx="2788920" cy="914400"/>
          </a:xfrm>
          <a:prstGeom prst="rect">
            <a:avLst/>
          </a:prstGeom>
          <a:noFill/>
          <a:ln/>
        </p:spPr>
        <p:txBody>
          <a:bodyPr wrap="square" lIns="0" tIns="0" rIns="0" bIns="0" rtlCol="0" anchor="t"/>
          <a:lstStyle/>
          <a:p>
            <a:pPr marL="0" indent="0">
              <a:buNone/>
            </a:pPr>
            <a:r>
              <a:rPr lang="fr-FR" sz="1800" b="1" noProof="0" dirty="0">
                <a:solidFill>
                  <a:schemeClr val="tx1"/>
                </a:solidFill>
              </a:rPr>
              <a:t>Acquisition &amp; préparation du flux</a:t>
            </a:r>
            <a:endParaRPr lang="fr-FR" sz="1800" noProof="0" dirty="0"/>
          </a:p>
        </p:txBody>
      </p:sp>
      <p:sp>
        <p:nvSpPr>
          <p:cNvPr id="13" name="Text 11"/>
          <p:cNvSpPr txBox="1"/>
          <p:nvPr/>
        </p:nvSpPr>
        <p:spPr>
          <a:xfrm>
            <a:off x="4700016" y="3931920"/>
            <a:ext cx="2788920" cy="2103120"/>
          </a:xfrm>
          <a:prstGeom prst="rect">
            <a:avLst/>
          </a:prstGeom>
          <a:noFill/>
          <a:ln/>
        </p:spPr>
        <p:txBody>
          <a:bodyPr wrap="square" lIns="0" tIns="0" rIns="0" bIns="0" rtlCol="0" anchor="t"/>
          <a:lstStyle/>
          <a:p>
            <a:pPr marL="0" indent="0">
              <a:buNone/>
            </a:pPr>
            <a:r>
              <a:rPr lang="fr-FR" sz="1500" noProof="0" dirty="0">
                <a:solidFill>
                  <a:schemeClr val="tx2"/>
                </a:solidFill>
              </a:rPr>
              <a:t>Capture webcam avec </a:t>
            </a:r>
            <a:r>
              <a:rPr lang="fr-FR" sz="1500" noProof="0" dirty="0" err="1">
                <a:solidFill>
                  <a:schemeClr val="tx2"/>
                </a:solidFill>
              </a:rPr>
              <a:t>OpenCV</a:t>
            </a:r>
            <a:r>
              <a:rPr lang="fr-FR" sz="1500" noProof="0" dirty="0">
                <a:solidFill>
                  <a:schemeClr val="tx2"/>
                </a:solidFill>
              </a:rPr>
              <a:t> et retour miroir (cv2.flip). Conversion BGR → RGB, puis encapsulation dans </a:t>
            </a:r>
            <a:r>
              <a:rPr lang="fr-FR" sz="1500" noProof="0" dirty="0" err="1">
                <a:solidFill>
                  <a:schemeClr val="tx2"/>
                </a:solidFill>
              </a:rPr>
              <a:t>mp.Image</a:t>
            </a:r>
            <a:r>
              <a:rPr lang="fr-FR" sz="1500" noProof="0" dirty="0">
                <a:solidFill>
                  <a:schemeClr val="tx2"/>
                </a:solidFill>
              </a:rPr>
              <a:t> avant l'inférence du réseau de neurones.</a:t>
            </a:r>
            <a:endParaRPr lang="fr-FR" sz="1500" noProof="0" dirty="0"/>
          </a:p>
        </p:txBody>
      </p:sp>
      <p:sp>
        <p:nvSpPr>
          <p:cNvPr id="14" name="Carte étape 3"/>
          <p:cNvSpPr/>
          <p:nvPr/>
        </p:nvSpPr>
        <p:spPr>
          <a:xfrm>
            <a:off x="8119872" y="1828800"/>
            <a:ext cx="3429000" cy="4389120"/>
          </a:xfrm>
          <a:prstGeom prst="roundRect">
            <a:avLst>
              <a:gd name="adj" fmla="val 3200"/>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15" name="Pastille 3"/>
          <p:cNvSpPr/>
          <p:nvPr/>
        </p:nvSpPr>
        <p:spPr>
          <a:xfrm>
            <a:off x="8439912" y="2148840"/>
            <a:ext cx="640080" cy="640080"/>
          </a:xfrm>
          <a:prstGeom prst="ellipse">
            <a:avLst/>
          </a:prstGeom>
          <a:solidFill>
            <a:schemeClr val="accent4"/>
          </a:solidFill>
          <a:ln/>
        </p:spPr>
        <p:txBody>
          <a:bodyPr/>
          <a:lstStyle/>
          <a:p>
            <a:endParaRPr lang="fr-FR" noProof="0" dirty="0"/>
          </a:p>
        </p:txBody>
      </p:sp>
      <p:sp>
        <p:nvSpPr>
          <p:cNvPr id="16" name="Numéro 3"/>
          <p:cNvSpPr txBox="1"/>
          <p:nvPr/>
        </p:nvSpPr>
        <p:spPr>
          <a:xfrm>
            <a:off x="8439912" y="2148840"/>
            <a:ext cx="640080" cy="640080"/>
          </a:xfrm>
          <a:prstGeom prst="rect">
            <a:avLst/>
          </a:prstGeom>
          <a:noFill/>
          <a:ln/>
        </p:spPr>
        <p:txBody>
          <a:bodyPr wrap="square" lIns="0" tIns="0" rIns="0" bIns="0" rtlCol="0" anchor="ctr"/>
          <a:lstStyle/>
          <a:p>
            <a:pPr marL="0" indent="0" algn="ctr">
              <a:buNone/>
            </a:pPr>
            <a:r>
              <a:rPr lang="fr-FR" sz="2400" b="1" noProof="0" dirty="0">
                <a:solidFill>
                  <a:schemeClr val="bg1"/>
                </a:solidFill>
                <a:latin typeface="Cambria" pitchFamily="34" charset="0"/>
                <a:ea typeface="Cambria" pitchFamily="34" charset="-122"/>
                <a:cs typeface="Cambria" pitchFamily="34" charset="-120"/>
              </a:rPr>
              <a:t>3</a:t>
            </a:r>
            <a:endParaRPr lang="fr-FR" sz="2400" noProof="0" dirty="0"/>
          </a:p>
        </p:txBody>
      </p:sp>
      <p:sp>
        <p:nvSpPr>
          <p:cNvPr id="17" name="Text 15"/>
          <p:cNvSpPr txBox="1"/>
          <p:nvPr/>
        </p:nvSpPr>
        <p:spPr>
          <a:xfrm>
            <a:off x="8439912" y="2971800"/>
            <a:ext cx="2788920" cy="914400"/>
          </a:xfrm>
          <a:prstGeom prst="rect">
            <a:avLst/>
          </a:prstGeom>
          <a:noFill/>
          <a:ln/>
        </p:spPr>
        <p:txBody>
          <a:bodyPr wrap="square" lIns="0" tIns="0" rIns="0" bIns="0" rtlCol="0" anchor="t"/>
          <a:lstStyle/>
          <a:p>
            <a:pPr marL="0" indent="0">
              <a:buNone/>
            </a:pPr>
            <a:r>
              <a:rPr lang="fr-FR" sz="1800" b="1" noProof="0" dirty="0">
                <a:solidFill>
                  <a:schemeClr val="tx1"/>
                </a:solidFill>
              </a:rPr>
              <a:t>Sortie du réseau : 21 repères par main</a:t>
            </a:r>
            <a:endParaRPr lang="fr-FR" sz="1800" noProof="0" dirty="0"/>
          </a:p>
        </p:txBody>
      </p:sp>
      <p:sp>
        <p:nvSpPr>
          <p:cNvPr id="18" name="Text 16"/>
          <p:cNvSpPr txBox="1"/>
          <p:nvPr/>
        </p:nvSpPr>
        <p:spPr>
          <a:xfrm>
            <a:off x="8439912" y="3931920"/>
            <a:ext cx="2788920" cy="2103120"/>
          </a:xfrm>
          <a:prstGeom prst="rect">
            <a:avLst/>
          </a:prstGeom>
          <a:noFill/>
          <a:ln/>
        </p:spPr>
        <p:txBody>
          <a:bodyPr wrap="square" lIns="0" tIns="0" rIns="0" bIns="0" rtlCol="0" anchor="t"/>
          <a:lstStyle/>
          <a:p>
            <a:pPr marL="342900" indent="-342900">
              <a:spcAft>
                <a:spcPts val="600"/>
              </a:spcAft>
              <a:buSzPct val="100000"/>
              <a:buChar char="•"/>
            </a:pPr>
            <a:r>
              <a:rPr lang="fr-FR" sz="1500" noProof="0" dirty="0">
                <a:solidFill>
                  <a:schemeClr val="tx2"/>
                </a:solidFill>
              </a:rPr>
              <a:t>Coordonnées normalisées (x, y) de chaque repère, converties en pixels selon la largeur et la hauteur de l'image.</a:t>
            </a:r>
            <a:endParaRPr lang="fr-FR" sz="1500" noProof="0" dirty="0"/>
          </a:p>
          <a:p>
            <a:pPr marL="342900" indent="-342900">
              <a:spcAft>
                <a:spcPts val="600"/>
              </a:spcAft>
              <a:buSzPct val="100000"/>
              <a:buChar char="•"/>
            </a:pPr>
            <a:r>
              <a:rPr lang="fr-FR" sz="1500" noProof="0" dirty="0">
                <a:solidFill>
                  <a:schemeClr val="tx2"/>
                </a:solidFill>
              </a:rPr>
              <a:t>Latéralité (Left / Right) fournie pour chaque main détectée.</a:t>
            </a:r>
            <a:endParaRPr lang="fr-FR" sz="1500" noProof="0" dirty="0"/>
          </a:p>
        </p:txBody>
      </p:sp>
      <p:sp>
        <p:nvSpPr>
          <p:cNvPr id="25" name="Slide Number Placeholder 0"/>
          <p:cNvSpPr>
            <a:spLocks noGrp="1"/>
          </p:cNvSpPr>
          <p:nvPr>
            <p:ph type="sldNum" sz="quarter" idx="4294967295"/>
          </p:nvPr>
        </p:nvSpPr>
        <p:spPr>
          <a:xfrm>
            <a:off x="10881360" y="6382512"/>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fr-FR" b="0" noProof="0" smtClean="0"/>
              <a:t>4</a:t>
            </a:fld>
            <a:endParaRPr lang="fr-FR"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a:spLocks noGrp="1"/>
          </p:cNvSpPr>
          <p:nvPr>
            <p:ph type="body" idx="102" hasCustomPrompt="1"/>
          </p:nvPr>
        </p:nvSpPr>
        <p:spPr>
          <a:xfrm>
            <a:off x="640080" y="411480"/>
            <a:ext cx="7315200" cy="274320"/>
          </a:xfrm>
          <a:prstGeom prst="rect">
            <a:avLst/>
          </a:prstGeom>
          <a:noFill/>
          <a:ln/>
        </p:spPr>
        <p:txBody>
          <a:bodyPr wrap="square" lIns="0" tIns="0" rIns="0" bIns="0" rtlCol="0" anchor="ctr"/>
          <a:lstStyle/>
          <a:p>
            <a:pPr marL="0" indent="0">
              <a:buNone/>
            </a:pPr>
            <a:r>
              <a:rPr lang="fr-FR" sz="1200" b="1" kern="0" spc="300" noProof="0" dirty="0">
                <a:solidFill>
                  <a:schemeClr val="accent4"/>
                </a:solidFill>
              </a:rPr>
              <a:t>PARTIE 2 — MÉTHODOLOGIE</a:t>
            </a:r>
            <a:endParaRPr lang="fr-FR" sz="1200" noProof="0" dirty="0"/>
          </a:p>
        </p:txBody>
      </p:sp>
      <p:sp>
        <p:nvSpPr>
          <p:cNvPr id="3" name="Text 2"/>
          <p:cNvSpPr>
            <a:spLocks noGrp="1"/>
          </p:cNvSpPr>
          <p:nvPr>
            <p:ph type="title" idx="103" hasCustomPrompt="1"/>
          </p:nvPr>
        </p:nvSpPr>
        <p:spPr>
          <a:xfrm>
            <a:off x="640080" y="731520"/>
            <a:ext cx="10881360" cy="868680"/>
          </a:xfrm>
          <a:prstGeom prst="rect">
            <a:avLst/>
          </a:prstGeom>
          <a:noFill/>
          <a:ln/>
        </p:spPr>
        <p:txBody>
          <a:bodyPr wrap="square" lIns="0" tIns="0" rIns="0" bIns="0" rtlCol="0" anchor="ctr"/>
          <a:lstStyle/>
          <a:p>
            <a:pPr marL="0" indent="0" algn="l">
              <a:buNone/>
            </a:pPr>
            <a:r>
              <a:rPr lang="fr-FR" sz="3600" b="1" noProof="0" dirty="0">
                <a:solidFill>
                  <a:schemeClr val="tx1"/>
                </a:solidFill>
              </a:rPr>
              <a:t>Méthodologie : squelette &amp; comptage des doigts</a:t>
            </a:r>
            <a:endParaRPr lang="fr-FR" sz="3600" noProof="0" dirty="0"/>
          </a:p>
        </p:txBody>
      </p:sp>
      <p:sp>
        <p:nvSpPr>
          <p:cNvPr id="4" name="Carte étape 1"/>
          <p:cNvSpPr/>
          <p:nvPr/>
        </p:nvSpPr>
        <p:spPr>
          <a:xfrm>
            <a:off x="640080" y="1828800"/>
            <a:ext cx="7040880" cy="1280160"/>
          </a:xfrm>
          <a:prstGeom prst="roundRect">
            <a:avLst>
              <a:gd name="adj" fmla="val 8571"/>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5" name="Pastille 1"/>
          <p:cNvSpPr/>
          <p:nvPr/>
        </p:nvSpPr>
        <p:spPr>
          <a:xfrm>
            <a:off x="914400" y="2194560"/>
            <a:ext cx="548640" cy="548640"/>
          </a:xfrm>
          <a:prstGeom prst="ellipse">
            <a:avLst/>
          </a:prstGeom>
          <a:solidFill>
            <a:schemeClr val="accent4"/>
          </a:solidFill>
          <a:ln/>
        </p:spPr>
        <p:txBody>
          <a:bodyPr/>
          <a:lstStyle/>
          <a:p>
            <a:endParaRPr lang="fr-FR" noProof="0" dirty="0"/>
          </a:p>
        </p:txBody>
      </p:sp>
      <p:sp>
        <p:nvSpPr>
          <p:cNvPr id="6" name="Numéro 1"/>
          <p:cNvSpPr txBox="1"/>
          <p:nvPr/>
        </p:nvSpPr>
        <p:spPr>
          <a:xfrm>
            <a:off x="914400" y="2194560"/>
            <a:ext cx="548640" cy="548640"/>
          </a:xfrm>
          <a:prstGeom prst="rect">
            <a:avLst/>
          </a:prstGeom>
          <a:noFill/>
          <a:ln/>
        </p:spPr>
        <p:txBody>
          <a:bodyPr wrap="square" lIns="0" tIns="0" rIns="0" bIns="0" rtlCol="0" anchor="ctr"/>
          <a:lstStyle/>
          <a:p>
            <a:pPr marL="0" indent="0" algn="ctr">
              <a:buNone/>
            </a:pPr>
            <a:r>
              <a:rPr lang="fr-FR" sz="2000" b="1" noProof="0" dirty="0">
                <a:solidFill>
                  <a:schemeClr val="bg1"/>
                </a:solidFill>
                <a:latin typeface="Cambria" pitchFamily="34" charset="0"/>
                <a:ea typeface="Cambria" pitchFamily="34" charset="-122"/>
                <a:cs typeface="Cambria" pitchFamily="34" charset="-120"/>
              </a:rPr>
              <a:t>1</a:t>
            </a:r>
            <a:endParaRPr lang="fr-FR" sz="2000" noProof="0" dirty="0"/>
          </a:p>
        </p:txBody>
      </p:sp>
      <p:sp>
        <p:nvSpPr>
          <p:cNvPr id="7" name="Text 5"/>
          <p:cNvSpPr txBox="1"/>
          <p:nvPr/>
        </p:nvSpPr>
        <p:spPr>
          <a:xfrm>
            <a:off x="1691640" y="1938528"/>
            <a:ext cx="5715000" cy="347472"/>
          </a:xfrm>
          <a:prstGeom prst="rect">
            <a:avLst/>
          </a:prstGeom>
          <a:noFill/>
          <a:ln/>
        </p:spPr>
        <p:txBody>
          <a:bodyPr wrap="square" lIns="0" tIns="0" rIns="0" bIns="0" rtlCol="0" anchor="ctr"/>
          <a:lstStyle/>
          <a:p>
            <a:pPr marL="0" indent="0">
              <a:buNone/>
            </a:pPr>
            <a:r>
              <a:rPr lang="fr-FR" sz="1800" b="1" noProof="0" dirty="0">
                <a:solidFill>
                  <a:schemeClr val="tx1"/>
                </a:solidFill>
              </a:rPr>
              <a:t>Tracé du squelette</a:t>
            </a:r>
            <a:endParaRPr lang="fr-FR" sz="1800" noProof="0" dirty="0"/>
          </a:p>
        </p:txBody>
      </p:sp>
      <p:sp>
        <p:nvSpPr>
          <p:cNvPr id="8" name="Text 6"/>
          <p:cNvSpPr txBox="1"/>
          <p:nvPr/>
        </p:nvSpPr>
        <p:spPr>
          <a:xfrm>
            <a:off x="1691640" y="2304288"/>
            <a:ext cx="5715000" cy="731520"/>
          </a:xfrm>
          <a:prstGeom prst="rect">
            <a:avLst/>
          </a:prstGeom>
          <a:noFill/>
          <a:ln/>
        </p:spPr>
        <p:txBody>
          <a:bodyPr wrap="square" lIns="0" tIns="0" rIns="0" bIns="0" rtlCol="0" anchor="t"/>
          <a:lstStyle/>
          <a:p>
            <a:pPr marL="0" indent="0">
              <a:buNone/>
            </a:pPr>
            <a:r>
              <a:rPr lang="fr-FR" sz="1400" noProof="0" dirty="0">
                <a:solidFill>
                  <a:schemeClr val="tx2"/>
                </a:solidFill>
              </a:rPr>
              <a:t>Liste de connexions (HAND_CONNECTIONS) reliant les 21 repères : pouce, index, majeur, annulaire, auriculaire et paume. Lignes vertes (cv2.line) et points rouges (cv2.circle).</a:t>
            </a:r>
            <a:endParaRPr lang="fr-FR" sz="1400" noProof="0" dirty="0"/>
          </a:p>
        </p:txBody>
      </p:sp>
      <p:sp>
        <p:nvSpPr>
          <p:cNvPr id="9" name="Carte étape 2"/>
          <p:cNvSpPr/>
          <p:nvPr/>
        </p:nvSpPr>
        <p:spPr>
          <a:xfrm>
            <a:off x="640080" y="3383280"/>
            <a:ext cx="7040880" cy="1280160"/>
          </a:xfrm>
          <a:prstGeom prst="roundRect">
            <a:avLst>
              <a:gd name="adj" fmla="val 8571"/>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10" name="Pastille 2"/>
          <p:cNvSpPr/>
          <p:nvPr/>
        </p:nvSpPr>
        <p:spPr>
          <a:xfrm>
            <a:off x="914400" y="3749040"/>
            <a:ext cx="548640" cy="548640"/>
          </a:xfrm>
          <a:prstGeom prst="ellipse">
            <a:avLst/>
          </a:prstGeom>
          <a:solidFill>
            <a:schemeClr val="accent4"/>
          </a:solidFill>
          <a:ln/>
        </p:spPr>
        <p:txBody>
          <a:bodyPr/>
          <a:lstStyle/>
          <a:p>
            <a:endParaRPr lang="fr-FR" noProof="0" dirty="0"/>
          </a:p>
        </p:txBody>
      </p:sp>
      <p:sp>
        <p:nvSpPr>
          <p:cNvPr id="11" name="Numéro 2"/>
          <p:cNvSpPr txBox="1"/>
          <p:nvPr/>
        </p:nvSpPr>
        <p:spPr>
          <a:xfrm>
            <a:off x="914400" y="3749040"/>
            <a:ext cx="548640" cy="548640"/>
          </a:xfrm>
          <a:prstGeom prst="rect">
            <a:avLst/>
          </a:prstGeom>
          <a:noFill/>
          <a:ln/>
        </p:spPr>
        <p:txBody>
          <a:bodyPr wrap="square" lIns="0" tIns="0" rIns="0" bIns="0" rtlCol="0" anchor="ctr"/>
          <a:lstStyle/>
          <a:p>
            <a:pPr marL="0" indent="0" algn="ctr">
              <a:buNone/>
            </a:pPr>
            <a:r>
              <a:rPr lang="fr-FR" sz="2000" b="1" noProof="0" dirty="0">
                <a:solidFill>
                  <a:schemeClr val="bg1"/>
                </a:solidFill>
                <a:latin typeface="Cambria" pitchFamily="34" charset="0"/>
                <a:ea typeface="Cambria" pitchFamily="34" charset="-122"/>
                <a:cs typeface="Cambria" pitchFamily="34" charset="-120"/>
              </a:rPr>
              <a:t>2</a:t>
            </a:r>
            <a:endParaRPr lang="fr-FR" sz="2000" noProof="0" dirty="0"/>
          </a:p>
        </p:txBody>
      </p:sp>
      <p:sp>
        <p:nvSpPr>
          <p:cNvPr id="12" name="Text 10"/>
          <p:cNvSpPr txBox="1"/>
          <p:nvPr/>
        </p:nvSpPr>
        <p:spPr>
          <a:xfrm>
            <a:off x="1691640" y="3493008"/>
            <a:ext cx="5715000" cy="347472"/>
          </a:xfrm>
          <a:prstGeom prst="rect">
            <a:avLst/>
          </a:prstGeom>
          <a:noFill/>
          <a:ln/>
        </p:spPr>
        <p:txBody>
          <a:bodyPr wrap="square" lIns="0" tIns="0" rIns="0" bIns="0" rtlCol="0" anchor="ctr"/>
          <a:lstStyle/>
          <a:p>
            <a:pPr marL="0" indent="0">
              <a:buNone/>
            </a:pPr>
            <a:r>
              <a:rPr lang="fr-FR" sz="1800" b="1" noProof="0" dirty="0">
                <a:solidFill>
                  <a:schemeClr val="tx1"/>
                </a:solidFill>
              </a:rPr>
              <a:t>Comptage du pouce</a:t>
            </a:r>
            <a:endParaRPr lang="fr-FR" sz="1800" noProof="0" dirty="0"/>
          </a:p>
        </p:txBody>
      </p:sp>
      <p:sp>
        <p:nvSpPr>
          <p:cNvPr id="13" name="Text 11"/>
          <p:cNvSpPr txBox="1"/>
          <p:nvPr/>
        </p:nvSpPr>
        <p:spPr>
          <a:xfrm>
            <a:off x="1691640" y="3858768"/>
            <a:ext cx="5715000" cy="731520"/>
          </a:xfrm>
          <a:prstGeom prst="rect">
            <a:avLst/>
          </a:prstGeom>
          <a:noFill/>
          <a:ln/>
        </p:spPr>
        <p:txBody>
          <a:bodyPr wrap="square" lIns="0" tIns="0" rIns="0" bIns="0" rtlCol="0" anchor="t"/>
          <a:lstStyle/>
          <a:p>
            <a:pPr marL="0" indent="0">
              <a:buNone/>
            </a:pPr>
            <a:r>
              <a:rPr lang="fr-FR" sz="1400" noProof="0" dirty="0">
                <a:solidFill>
                  <a:schemeClr val="tx2"/>
                </a:solidFill>
              </a:rPr>
              <a:t>Comparaison sur l'axe X entre la pointe (repère 4) et l'articulation (repère 3), adaptée à la latéralité Left / Right et compensée par l'effet miroir.</a:t>
            </a:r>
            <a:endParaRPr lang="fr-FR" sz="1400" noProof="0" dirty="0"/>
          </a:p>
        </p:txBody>
      </p:sp>
      <p:sp>
        <p:nvSpPr>
          <p:cNvPr id="14" name="Carte étape 3"/>
          <p:cNvSpPr/>
          <p:nvPr/>
        </p:nvSpPr>
        <p:spPr>
          <a:xfrm>
            <a:off x="640080" y="4937760"/>
            <a:ext cx="7040880" cy="1280160"/>
          </a:xfrm>
          <a:prstGeom prst="roundRect">
            <a:avLst>
              <a:gd name="adj" fmla="val 8571"/>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15" name="Pastille 3"/>
          <p:cNvSpPr/>
          <p:nvPr/>
        </p:nvSpPr>
        <p:spPr>
          <a:xfrm>
            <a:off x="914400" y="5303520"/>
            <a:ext cx="548640" cy="548640"/>
          </a:xfrm>
          <a:prstGeom prst="ellipse">
            <a:avLst/>
          </a:prstGeom>
          <a:solidFill>
            <a:schemeClr val="accent4"/>
          </a:solidFill>
          <a:ln/>
        </p:spPr>
        <p:txBody>
          <a:bodyPr/>
          <a:lstStyle/>
          <a:p>
            <a:endParaRPr lang="fr-FR" noProof="0" dirty="0"/>
          </a:p>
        </p:txBody>
      </p:sp>
      <p:sp>
        <p:nvSpPr>
          <p:cNvPr id="16" name="Numéro 3"/>
          <p:cNvSpPr txBox="1"/>
          <p:nvPr/>
        </p:nvSpPr>
        <p:spPr>
          <a:xfrm>
            <a:off x="914400" y="5303520"/>
            <a:ext cx="548640" cy="548640"/>
          </a:xfrm>
          <a:prstGeom prst="rect">
            <a:avLst/>
          </a:prstGeom>
          <a:noFill/>
          <a:ln/>
        </p:spPr>
        <p:txBody>
          <a:bodyPr wrap="square" lIns="0" tIns="0" rIns="0" bIns="0" rtlCol="0" anchor="ctr"/>
          <a:lstStyle/>
          <a:p>
            <a:pPr marL="0" indent="0" algn="ctr">
              <a:buNone/>
            </a:pPr>
            <a:r>
              <a:rPr lang="fr-FR" sz="2000" b="1" noProof="0" dirty="0">
                <a:solidFill>
                  <a:schemeClr val="bg1"/>
                </a:solidFill>
                <a:latin typeface="Cambria" pitchFamily="34" charset="0"/>
                <a:ea typeface="Cambria" pitchFamily="34" charset="-122"/>
                <a:cs typeface="Cambria" pitchFamily="34" charset="-120"/>
              </a:rPr>
              <a:t>3</a:t>
            </a:r>
            <a:endParaRPr lang="fr-FR" sz="2000" noProof="0" dirty="0"/>
          </a:p>
        </p:txBody>
      </p:sp>
      <p:sp>
        <p:nvSpPr>
          <p:cNvPr id="17" name="Text 15"/>
          <p:cNvSpPr txBox="1"/>
          <p:nvPr/>
        </p:nvSpPr>
        <p:spPr>
          <a:xfrm>
            <a:off x="1691640" y="5047488"/>
            <a:ext cx="5715000" cy="347472"/>
          </a:xfrm>
          <a:prstGeom prst="rect">
            <a:avLst/>
          </a:prstGeom>
          <a:noFill/>
          <a:ln/>
        </p:spPr>
        <p:txBody>
          <a:bodyPr wrap="square" lIns="0" tIns="0" rIns="0" bIns="0" rtlCol="0" anchor="ctr"/>
          <a:lstStyle/>
          <a:p>
            <a:pPr marL="0" indent="0">
              <a:buNone/>
            </a:pPr>
            <a:r>
              <a:rPr lang="fr-FR" sz="1800" b="1" noProof="0" dirty="0">
                <a:solidFill>
                  <a:schemeClr val="tx1"/>
                </a:solidFill>
              </a:rPr>
              <a:t>Comptage des autres doigts</a:t>
            </a:r>
            <a:endParaRPr lang="fr-FR" sz="1800" noProof="0" dirty="0"/>
          </a:p>
        </p:txBody>
      </p:sp>
      <p:sp>
        <p:nvSpPr>
          <p:cNvPr id="18" name="Text 16"/>
          <p:cNvSpPr txBox="1"/>
          <p:nvPr/>
        </p:nvSpPr>
        <p:spPr>
          <a:xfrm>
            <a:off x="1691640" y="5413248"/>
            <a:ext cx="5715000" cy="731520"/>
          </a:xfrm>
          <a:prstGeom prst="rect">
            <a:avLst/>
          </a:prstGeom>
          <a:noFill/>
          <a:ln/>
        </p:spPr>
        <p:txBody>
          <a:bodyPr wrap="square" lIns="0" tIns="0" rIns="0" bIns="0" rtlCol="0" anchor="t"/>
          <a:lstStyle/>
          <a:p>
            <a:pPr marL="0" indent="0">
              <a:buNone/>
            </a:pPr>
            <a:r>
              <a:rPr lang="fr-FR" sz="1400" noProof="0" dirty="0">
                <a:solidFill>
                  <a:schemeClr val="tx2"/>
                </a:solidFill>
              </a:rPr>
              <a:t>Comparaison sur l'axe Y : un doigt est levé si sa pointe (8, 12, 16, 20) est plus haute que son articulation inférieure (tip − 2). Total affiché en direct.</a:t>
            </a:r>
            <a:endParaRPr lang="fr-FR" sz="1400" noProof="0" dirty="0"/>
          </a:p>
        </p:txBody>
      </p:sp>
      <p:sp>
        <p:nvSpPr>
          <p:cNvPr id="19" name="Carte illustration"/>
          <p:cNvSpPr/>
          <p:nvPr/>
        </p:nvSpPr>
        <p:spPr>
          <a:xfrm>
            <a:off x="7955280" y="1828800"/>
            <a:ext cx="3593592" cy="4389120"/>
          </a:xfrm>
          <a:prstGeom prst="roundRect">
            <a:avLst>
              <a:gd name="adj" fmla="val 3053"/>
            </a:avLst>
          </a:prstGeom>
          <a:solidFill>
            <a:schemeClr val="tx1"/>
          </a:solidFill>
          <a:ln/>
          <a:effectLst>
            <a:outerShdw blurRad="152400" dist="38100" dir="5400000" algn="bl" rotWithShape="0">
              <a:srgbClr val="0F172A">
                <a:alpha val="12000"/>
              </a:srgbClr>
            </a:outerShdw>
          </a:effectLst>
        </p:spPr>
        <p:txBody>
          <a:bodyPr/>
          <a:lstStyle/>
          <a:p>
            <a:endParaRPr lang="fr-FR" noProof="0" dirty="0"/>
          </a:p>
        </p:txBody>
      </p:sp>
      <p:pic>
        <p:nvPicPr>
          <p:cNvPr id="20" name="Illustration des 21 repères" descr="Squelette de main avec les 21 repères numérotés de 0 à 20"/>
          <p:cNvPicPr>
            <a:picLocks noChangeAspect="1"/>
          </p:cNvPicPr>
          <p:nvPr/>
        </p:nvPicPr>
        <p:blipFill>
          <a:blip r:embed="rId3"/>
          <a:stretch>
            <a:fillRect/>
          </a:stretch>
        </p:blipFill>
        <p:spPr>
          <a:xfrm>
            <a:off x="8197596" y="2103120"/>
            <a:ext cx="3108960" cy="3886200"/>
          </a:xfrm>
          <a:prstGeom prst="rect">
            <a:avLst/>
          </a:prstGeom>
        </p:spPr>
      </p:pic>
      <p:sp>
        <p:nvSpPr>
          <p:cNvPr id="25" name="Slide Number Placeholder 0"/>
          <p:cNvSpPr>
            <a:spLocks noGrp="1"/>
          </p:cNvSpPr>
          <p:nvPr>
            <p:ph type="sldNum" sz="quarter" idx="4294967295"/>
          </p:nvPr>
        </p:nvSpPr>
        <p:spPr>
          <a:xfrm>
            <a:off x="10881360" y="6382512"/>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fr-FR" b="0" noProof="0" smtClean="0"/>
              <a:t>5</a:t>
            </a:fld>
            <a:endParaRPr lang="fr-FR"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a:spLocks noGrp="1"/>
          </p:cNvSpPr>
          <p:nvPr>
            <p:ph type="body" idx="102" hasCustomPrompt="1"/>
          </p:nvPr>
        </p:nvSpPr>
        <p:spPr>
          <a:xfrm>
            <a:off x="640080" y="411480"/>
            <a:ext cx="7315200" cy="274320"/>
          </a:xfrm>
          <a:prstGeom prst="rect">
            <a:avLst/>
          </a:prstGeom>
          <a:noFill/>
          <a:ln/>
        </p:spPr>
        <p:txBody>
          <a:bodyPr wrap="square" lIns="0" tIns="0" rIns="0" bIns="0" rtlCol="0" anchor="ctr"/>
          <a:lstStyle/>
          <a:p>
            <a:pPr marL="0" indent="0">
              <a:buNone/>
            </a:pPr>
            <a:r>
              <a:rPr lang="fr-FR" sz="1200" b="1" kern="0" spc="300" noProof="0" dirty="0">
                <a:solidFill>
                  <a:schemeClr val="accent4"/>
                </a:solidFill>
              </a:rPr>
              <a:t>PARTIE 2 — MÉTHODOLOGIE</a:t>
            </a:r>
            <a:endParaRPr lang="fr-FR" sz="1200" noProof="0" dirty="0"/>
          </a:p>
        </p:txBody>
      </p:sp>
      <p:sp>
        <p:nvSpPr>
          <p:cNvPr id="3" name="Text 2"/>
          <p:cNvSpPr>
            <a:spLocks noGrp="1"/>
          </p:cNvSpPr>
          <p:nvPr>
            <p:ph type="title" idx="103" hasCustomPrompt="1"/>
          </p:nvPr>
        </p:nvSpPr>
        <p:spPr>
          <a:xfrm>
            <a:off x="640080" y="731520"/>
            <a:ext cx="10881360" cy="868680"/>
          </a:xfrm>
          <a:prstGeom prst="rect">
            <a:avLst/>
          </a:prstGeom>
          <a:noFill/>
          <a:ln/>
        </p:spPr>
        <p:txBody>
          <a:bodyPr wrap="square" lIns="0" tIns="0" rIns="0" bIns="0" rtlCol="0" anchor="ctr"/>
          <a:lstStyle/>
          <a:p>
            <a:pPr marL="0" indent="0" algn="l">
              <a:buNone/>
            </a:pPr>
            <a:r>
              <a:rPr lang="fr-FR" sz="3600" b="1" noProof="0" dirty="0">
                <a:solidFill>
                  <a:schemeClr val="tx1"/>
                </a:solidFill>
              </a:rPr>
              <a:t>Effet visuel de proximité entre extrémités</a:t>
            </a:r>
            <a:endParaRPr lang="fr-FR" sz="3600" noProof="0" dirty="0"/>
          </a:p>
        </p:txBody>
      </p:sp>
      <p:sp>
        <p:nvSpPr>
          <p:cNvPr id="4" name="Carte comparaison"/>
          <p:cNvSpPr/>
          <p:nvPr/>
        </p:nvSpPr>
        <p:spPr>
          <a:xfrm>
            <a:off x="640080" y="1828800"/>
            <a:ext cx="5394960" cy="4389120"/>
          </a:xfrm>
          <a:prstGeom prst="roundRect">
            <a:avLst>
              <a:gd name="adj" fmla="val 2500"/>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5" name="Pastille 1"/>
          <p:cNvSpPr/>
          <p:nvPr/>
        </p:nvSpPr>
        <p:spPr>
          <a:xfrm>
            <a:off x="914400" y="2103120"/>
            <a:ext cx="640080" cy="640080"/>
          </a:xfrm>
          <a:prstGeom prst="ellipse">
            <a:avLst/>
          </a:prstGeom>
          <a:solidFill>
            <a:schemeClr val="accent4"/>
          </a:solidFill>
          <a:ln/>
        </p:spPr>
        <p:txBody>
          <a:bodyPr/>
          <a:lstStyle/>
          <a:p>
            <a:endParaRPr lang="fr-FR" noProof="0" dirty="0"/>
          </a:p>
        </p:txBody>
      </p:sp>
      <p:sp>
        <p:nvSpPr>
          <p:cNvPr id="6" name="Numéro 1"/>
          <p:cNvSpPr txBox="1"/>
          <p:nvPr/>
        </p:nvSpPr>
        <p:spPr>
          <a:xfrm>
            <a:off x="914400" y="2103120"/>
            <a:ext cx="640080" cy="640080"/>
          </a:xfrm>
          <a:prstGeom prst="rect">
            <a:avLst/>
          </a:prstGeom>
          <a:noFill/>
          <a:ln/>
        </p:spPr>
        <p:txBody>
          <a:bodyPr wrap="square" lIns="0" tIns="0" rIns="0" bIns="0" rtlCol="0" anchor="ctr"/>
          <a:lstStyle/>
          <a:p>
            <a:pPr marL="0" indent="0" algn="ctr">
              <a:buNone/>
            </a:pPr>
            <a:r>
              <a:rPr lang="fr-FR" sz="2400" b="1" noProof="0" dirty="0">
                <a:solidFill>
                  <a:schemeClr val="bg1"/>
                </a:solidFill>
                <a:latin typeface="Cambria" pitchFamily="34" charset="0"/>
                <a:ea typeface="Cambria" pitchFamily="34" charset="-122"/>
                <a:cs typeface="Cambria" pitchFamily="34" charset="-120"/>
              </a:rPr>
              <a:t>1</a:t>
            </a:r>
            <a:endParaRPr lang="fr-FR" sz="2400" noProof="0" dirty="0"/>
          </a:p>
        </p:txBody>
      </p:sp>
      <p:sp>
        <p:nvSpPr>
          <p:cNvPr id="7" name="Text 5"/>
          <p:cNvSpPr txBox="1"/>
          <p:nvPr/>
        </p:nvSpPr>
        <p:spPr>
          <a:xfrm>
            <a:off x="1783080" y="2103120"/>
            <a:ext cx="3977640" cy="640080"/>
          </a:xfrm>
          <a:prstGeom prst="rect">
            <a:avLst/>
          </a:prstGeom>
          <a:noFill/>
          <a:ln/>
        </p:spPr>
        <p:txBody>
          <a:bodyPr wrap="square" lIns="0" tIns="0" rIns="0" bIns="0" rtlCol="0" anchor="ctr"/>
          <a:lstStyle/>
          <a:p>
            <a:pPr marL="0" indent="0">
              <a:buNone/>
            </a:pPr>
            <a:r>
              <a:rPr lang="fr-FR" sz="1800" b="1" noProof="0" dirty="0">
                <a:solidFill>
                  <a:schemeClr val="tx1"/>
                </a:solidFill>
              </a:rPr>
              <a:t>Comparaison des bouts de doigts</a:t>
            </a:r>
            <a:endParaRPr lang="fr-FR" sz="1800" noProof="0" dirty="0"/>
          </a:p>
        </p:txBody>
      </p:sp>
      <p:sp>
        <p:nvSpPr>
          <p:cNvPr id="8" name="Text 6"/>
          <p:cNvSpPr txBox="1"/>
          <p:nvPr/>
        </p:nvSpPr>
        <p:spPr>
          <a:xfrm>
            <a:off x="914400" y="3017520"/>
            <a:ext cx="4846320" cy="914400"/>
          </a:xfrm>
          <a:prstGeom prst="rect">
            <a:avLst/>
          </a:prstGeom>
          <a:noFill/>
          <a:ln/>
        </p:spPr>
        <p:txBody>
          <a:bodyPr wrap="square" lIns="0" tIns="0" rIns="0" bIns="0" rtlCol="0" anchor="t"/>
          <a:lstStyle/>
          <a:p>
            <a:pPr marL="0" indent="0">
              <a:buNone/>
            </a:pPr>
            <a:r>
              <a:rPr lang="fr-FR" sz="1500" noProof="0" dirty="0">
                <a:solidFill>
                  <a:schemeClr val="tx2"/>
                </a:solidFill>
              </a:rPr>
              <a:t>Les 5 extrémités (repères 4, 8, 12, 16, 20) sont comparées deux à deux. Distance euclidienne entre les deux sommets, en pixels (</a:t>
            </a:r>
            <a:r>
              <a:rPr lang="fr-FR" sz="1500" noProof="0" dirty="0" err="1">
                <a:solidFill>
                  <a:schemeClr val="tx2"/>
                </a:solidFill>
              </a:rPr>
              <a:t>math.hypot</a:t>
            </a:r>
            <a:r>
              <a:rPr lang="fr-FR" sz="1500" noProof="0" dirty="0">
                <a:solidFill>
                  <a:schemeClr val="tx2"/>
                </a:solidFill>
              </a:rPr>
              <a:t>).</a:t>
            </a:r>
            <a:endParaRPr lang="fr-FR" sz="1500" noProof="0" dirty="0"/>
          </a:p>
        </p:txBody>
      </p:sp>
      <p:sp>
        <p:nvSpPr>
          <p:cNvPr id="9" name="Pastille formule"/>
          <p:cNvSpPr/>
          <p:nvPr/>
        </p:nvSpPr>
        <p:spPr>
          <a:xfrm>
            <a:off x="914400" y="4069080"/>
            <a:ext cx="4846320" cy="548640"/>
          </a:xfrm>
          <a:prstGeom prst="roundRect">
            <a:avLst>
              <a:gd name="adj" fmla="val 16667"/>
            </a:avLst>
          </a:prstGeom>
          <a:solidFill>
            <a:schemeClr val="tx1"/>
          </a:solidFill>
          <a:ln/>
        </p:spPr>
        <p:txBody>
          <a:bodyPr/>
          <a:lstStyle/>
          <a:p>
            <a:endParaRPr lang="fr-FR" noProof="0" dirty="0"/>
          </a:p>
        </p:txBody>
      </p:sp>
      <p:sp>
        <p:nvSpPr>
          <p:cNvPr id="10" name="Text 8"/>
          <p:cNvSpPr txBox="1"/>
          <p:nvPr/>
        </p:nvSpPr>
        <p:spPr>
          <a:xfrm>
            <a:off x="914400" y="4069080"/>
            <a:ext cx="4846320" cy="548640"/>
          </a:xfrm>
          <a:prstGeom prst="rect">
            <a:avLst/>
          </a:prstGeom>
          <a:noFill/>
          <a:ln/>
        </p:spPr>
        <p:txBody>
          <a:bodyPr wrap="square" lIns="0" tIns="0" rIns="0" bIns="0" rtlCol="0" anchor="ctr"/>
          <a:lstStyle/>
          <a:p>
            <a:pPr marL="0" indent="0" algn="ctr">
              <a:buNone/>
            </a:pPr>
            <a:r>
              <a:rPr lang="fr-FR" sz="2200" b="1" noProof="0" dirty="0">
                <a:solidFill>
                  <a:schemeClr val="bg1"/>
                </a:solidFill>
                <a:latin typeface="Cambria" pitchFamily="34" charset="0"/>
                <a:ea typeface="Cambria" pitchFamily="34" charset="-122"/>
                <a:cs typeface="Cambria" pitchFamily="34" charset="-120"/>
              </a:rPr>
              <a:t>d = √(dx² + </a:t>
            </a:r>
            <a:r>
              <a:rPr lang="fr-FR" sz="2200" b="1" noProof="0" dirty="0" err="1">
                <a:solidFill>
                  <a:schemeClr val="bg1"/>
                </a:solidFill>
                <a:latin typeface="Cambria" pitchFamily="34" charset="0"/>
                <a:ea typeface="Cambria" pitchFamily="34" charset="-122"/>
                <a:cs typeface="Cambria" pitchFamily="34" charset="-120"/>
              </a:rPr>
              <a:t>dy</a:t>
            </a:r>
            <a:r>
              <a:rPr lang="fr-FR" sz="2200" b="1" noProof="0" dirty="0">
                <a:solidFill>
                  <a:schemeClr val="bg1"/>
                </a:solidFill>
                <a:latin typeface="Cambria" pitchFamily="34" charset="0"/>
                <a:ea typeface="Cambria" pitchFamily="34" charset="-122"/>
                <a:cs typeface="Cambria" pitchFamily="34" charset="-120"/>
              </a:rPr>
              <a:t>²)</a:t>
            </a:r>
            <a:endParaRPr lang="fr-FR" sz="2200" noProof="0" dirty="0"/>
          </a:p>
        </p:txBody>
      </p:sp>
      <p:sp>
        <p:nvSpPr>
          <p:cNvPr id="11" name="Stat 65 px"/>
          <p:cNvSpPr/>
          <p:nvPr/>
        </p:nvSpPr>
        <p:spPr>
          <a:xfrm>
            <a:off x="914400" y="4846320"/>
            <a:ext cx="2331720" cy="1097280"/>
          </a:xfrm>
          <a:prstGeom prst="roundRect">
            <a:avLst>
              <a:gd name="adj" fmla="val 8333"/>
            </a:avLst>
          </a:prstGeom>
          <a:solidFill>
            <a:schemeClr val="bg2"/>
          </a:solidFill>
          <a:ln/>
        </p:spPr>
        <p:txBody>
          <a:bodyPr/>
          <a:lstStyle/>
          <a:p>
            <a:endParaRPr lang="fr-FR" noProof="0" dirty="0"/>
          </a:p>
        </p:txBody>
      </p:sp>
      <p:sp>
        <p:nvSpPr>
          <p:cNvPr id="12" name="Text 10"/>
          <p:cNvSpPr txBox="1"/>
          <p:nvPr/>
        </p:nvSpPr>
        <p:spPr>
          <a:xfrm>
            <a:off x="914400" y="4892040"/>
            <a:ext cx="2331720" cy="548640"/>
          </a:xfrm>
          <a:prstGeom prst="rect">
            <a:avLst/>
          </a:prstGeom>
          <a:noFill/>
          <a:ln/>
        </p:spPr>
        <p:txBody>
          <a:bodyPr wrap="square" lIns="0" tIns="0" rIns="0" bIns="0" rtlCol="0" anchor="ctr"/>
          <a:lstStyle/>
          <a:p>
            <a:pPr marL="0" indent="0" algn="ctr">
              <a:buNone/>
            </a:pPr>
            <a:r>
              <a:rPr lang="fr-FR" sz="3200" b="1" noProof="0" dirty="0">
                <a:solidFill>
                  <a:schemeClr val="accent4"/>
                </a:solidFill>
                <a:latin typeface="Cambria" pitchFamily="34" charset="0"/>
                <a:ea typeface="Cambria" pitchFamily="34" charset="-122"/>
                <a:cs typeface="Cambria" pitchFamily="34" charset="-120"/>
              </a:rPr>
              <a:t>65 px</a:t>
            </a:r>
            <a:endParaRPr lang="fr-FR" sz="3200" noProof="0" dirty="0"/>
          </a:p>
        </p:txBody>
      </p:sp>
      <p:sp>
        <p:nvSpPr>
          <p:cNvPr id="13" name="Text 11"/>
          <p:cNvSpPr txBox="1"/>
          <p:nvPr/>
        </p:nvSpPr>
        <p:spPr>
          <a:xfrm>
            <a:off x="914400" y="5440680"/>
            <a:ext cx="2331720" cy="365760"/>
          </a:xfrm>
          <a:prstGeom prst="rect">
            <a:avLst/>
          </a:prstGeom>
          <a:noFill/>
          <a:ln/>
        </p:spPr>
        <p:txBody>
          <a:bodyPr wrap="square" lIns="0" tIns="0" rIns="0" bIns="0" rtlCol="0" anchor="ctr"/>
          <a:lstStyle/>
          <a:p>
            <a:pPr marL="0" indent="0" algn="ctr">
              <a:buNone/>
            </a:pPr>
            <a:r>
              <a:rPr lang="fr-FR" sz="1300" noProof="0" dirty="0">
                <a:solidFill>
                  <a:schemeClr val="tx2"/>
                </a:solidFill>
              </a:rPr>
              <a:t>seuil de déclenchement</a:t>
            </a:r>
            <a:endParaRPr lang="fr-FR" sz="1300" noProof="0" dirty="0"/>
          </a:p>
        </p:txBody>
      </p:sp>
      <p:sp>
        <p:nvSpPr>
          <p:cNvPr id="14" name="Stat 10"/>
          <p:cNvSpPr/>
          <p:nvPr/>
        </p:nvSpPr>
        <p:spPr>
          <a:xfrm>
            <a:off x="3429000" y="4846320"/>
            <a:ext cx="2331720" cy="1097280"/>
          </a:xfrm>
          <a:prstGeom prst="roundRect">
            <a:avLst>
              <a:gd name="adj" fmla="val 8333"/>
            </a:avLst>
          </a:prstGeom>
          <a:solidFill>
            <a:schemeClr val="bg2"/>
          </a:solidFill>
          <a:ln/>
        </p:spPr>
        <p:txBody>
          <a:bodyPr/>
          <a:lstStyle/>
          <a:p>
            <a:endParaRPr lang="fr-FR" noProof="0" dirty="0"/>
          </a:p>
        </p:txBody>
      </p:sp>
      <p:sp>
        <p:nvSpPr>
          <p:cNvPr id="15" name="Text 13"/>
          <p:cNvSpPr txBox="1"/>
          <p:nvPr/>
        </p:nvSpPr>
        <p:spPr>
          <a:xfrm>
            <a:off x="3429000" y="4892040"/>
            <a:ext cx="2331720" cy="548640"/>
          </a:xfrm>
          <a:prstGeom prst="rect">
            <a:avLst/>
          </a:prstGeom>
          <a:noFill/>
          <a:ln/>
        </p:spPr>
        <p:txBody>
          <a:bodyPr wrap="square" lIns="0" tIns="0" rIns="0" bIns="0" rtlCol="0" anchor="ctr"/>
          <a:lstStyle/>
          <a:p>
            <a:pPr marL="0" indent="0" algn="ctr">
              <a:buNone/>
            </a:pPr>
            <a:r>
              <a:rPr lang="fr-FR" sz="3200" b="1" noProof="0" dirty="0">
                <a:solidFill>
                  <a:schemeClr val="accent4"/>
                </a:solidFill>
                <a:latin typeface="Cambria" pitchFamily="34" charset="0"/>
                <a:ea typeface="Cambria" pitchFamily="34" charset="-122"/>
                <a:cs typeface="Cambria" pitchFamily="34" charset="-120"/>
              </a:rPr>
              <a:t>10</a:t>
            </a:r>
            <a:endParaRPr lang="fr-FR" sz="3200" noProof="0" dirty="0"/>
          </a:p>
        </p:txBody>
      </p:sp>
      <p:sp>
        <p:nvSpPr>
          <p:cNvPr id="16" name="Text 14"/>
          <p:cNvSpPr txBox="1"/>
          <p:nvPr/>
        </p:nvSpPr>
        <p:spPr>
          <a:xfrm>
            <a:off x="3429000" y="5440680"/>
            <a:ext cx="2331720" cy="365760"/>
          </a:xfrm>
          <a:prstGeom prst="rect">
            <a:avLst/>
          </a:prstGeom>
          <a:noFill/>
          <a:ln/>
        </p:spPr>
        <p:txBody>
          <a:bodyPr wrap="square" lIns="0" tIns="0" rIns="0" bIns="0" rtlCol="0" anchor="ctr"/>
          <a:lstStyle/>
          <a:p>
            <a:pPr marL="0" indent="0" algn="ctr">
              <a:buNone/>
            </a:pPr>
            <a:r>
              <a:rPr lang="fr-FR" sz="1300" noProof="0" dirty="0">
                <a:solidFill>
                  <a:schemeClr val="tx2"/>
                </a:solidFill>
              </a:rPr>
              <a:t>paires de doigts comparées</a:t>
            </a:r>
            <a:endParaRPr lang="fr-FR" sz="1300" noProof="0" dirty="0"/>
          </a:p>
        </p:txBody>
      </p:sp>
      <p:sp>
        <p:nvSpPr>
          <p:cNvPr id="17" name="Carte trait dynamique"/>
          <p:cNvSpPr/>
          <p:nvPr/>
        </p:nvSpPr>
        <p:spPr>
          <a:xfrm>
            <a:off x="6309360" y="1828800"/>
            <a:ext cx="5239512" cy="1645920"/>
          </a:xfrm>
          <a:prstGeom prst="roundRect">
            <a:avLst>
              <a:gd name="adj" fmla="val 6667"/>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18" name="Pastille 2"/>
          <p:cNvSpPr/>
          <p:nvPr/>
        </p:nvSpPr>
        <p:spPr>
          <a:xfrm>
            <a:off x="6583680" y="2103120"/>
            <a:ext cx="640080" cy="640080"/>
          </a:xfrm>
          <a:prstGeom prst="ellipse">
            <a:avLst/>
          </a:prstGeom>
          <a:solidFill>
            <a:schemeClr val="accent4"/>
          </a:solidFill>
          <a:ln/>
        </p:spPr>
        <p:txBody>
          <a:bodyPr/>
          <a:lstStyle/>
          <a:p>
            <a:endParaRPr lang="fr-FR" noProof="0" dirty="0"/>
          </a:p>
        </p:txBody>
      </p:sp>
      <p:sp>
        <p:nvSpPr>
          <p:cNvPr id="19" name="Numéro 2"/>
          <p:cNvSpPr txBox="1"/>
          <p:nvPr/>
        </p:nvSpPr>
        <p:spPr>
          <a:xfrm>
            <a:off x="6583680" y="2103120"/>
            <a:ext cx="640080" cy="640080"/>
          </a:xfrm>
          <a:prstGeom prst="rect">
            <a:avLst/>
          </a:prstGeom>
          <a:noFill/>
          <a:ln/>
        </p:spPr>
        <p:txBody>
          <a:bodyPr wrap="square" lIns="0" tIns="0" rIns="0" bIns="0" rtlCol="0" anchor="ctr"/>
          <a:lstStyle/>
          <a:p>
            <a:pPr marL="0" indent="0" algn="ctr">
              <a:buNone/>
            </a:pPr>
            <a:r>
              <a:rPr lang="fr-FR" sz="2400" b="1" noProof="0" dirty="0">
                <a:solidFill>
                  <a:schemeClr val="bg1"/>
                </a:solidFill>
                <a:latin typeface="Cambria" pitchFamily="34" charset="0"/>
                <a:ea typeface="Cambria" pitchFamily="34" charset="-122"/>
                <a:cs typeface="Cambria" pitchFamily="34" charset="-120"/>
              </a:rPr>
              <a:t>2</a:t>
            </a:r>
            <a:endParaRPr lang="fr-FR" sz="2400" noProof="0" dirty="0"/>
          </a:p>
        </p:txBody>
      </p:sp>
      <p:sp>
        <p:nvSpPr>
          <p:cNvPr id="20" name="Text 18"/>
          <p:cNvSpPr txBox="1"/>
          <p:nvPr/>
        </p:nvSpPr>
        <p:spPr>
          <a:xfrm>
            <a:off x="7452360" y="2011680"/>
            <a:ext cx="3931920" cy="411480"/>
          </a:xfrm>
          <a:prstGeom prst="rect">
            <a:avLst/>
          </a:prstGeom>
          <a:noFill/>
          <a:ln/>
        </p:spPr>
        <p:txBody>
          <a:bodyPr wrap="square" lIns="0" tIns="0" rIns="0" bIns="0" rtlCol="0" anchor="ctr"/>
          <a:lstStyle/>
          <a:p>
            <a:pPr marL="0" indent="0">
              <a:buNone/>
            </a:pPr>
            <a:r>
              <a:rPr lang="fr-FR" sz="1800" b="1" noProof="0" dirty="0">
                <a:solidFill>
                  <a:schemeClr val="tx1"/>
                </a:solidFill>
              </a:rPr>
              <a:t>Trait &amp; point d'impact dynamiques</a:t>
            </a:r>
            <a:endParaRPr lang="fr-FR" sz="1800" noProof="0" dirty="0"/>
          </a:p>
        </p:txBody>
      </p:sp>
      <p:sp>
        <p:nvSpPr>
          <p:cNvPr id="21" name="Text 19"/>
          <p:cNvSpPr txBox="1"/>
          <p:nvPr/>
        </p:nvSpPr>
        <p:spPr>
          <a:xfrm>
            <a:off x="7452360" y="2468880"/>
            <a:ext cx="3931920" cy="868680"/>
          </a:xfrm>
          <a:prstGeom prst="rect">
            <a:avLst/>
          </a:prstGeom>
          <a:noFill/>
          <a:ln/>
        </p:spPr>
        <p:txBody>
          <a:bodyPr wrap="square" lIns="0" tIns="0" rIns="0" bIns="0" rtlCol="0" anchor="t"/>
          <a:lstStyle/>
          <a:p>
            <a:pPr marL="0" indent="0">
              <a:buNone/>
            </a:pPr>
            <a:r>
              <a:rPr lang="fr-FR" sz="1400" noProof="0" dirty="0">
                <a:solidFill>
                  <a:schemeClr val="tx2"/>
                </a:solidFill>
              </a:rPr>
              <a:t>Interpolation linéaire (</a:t>
            </a:r>
            <a:r>
              <a:rPr lang="fr-FR" sz="1400" noProof="0" dirty="0" err="1">
                <a:solidFill>
                  <a:schemeClr val="tx2"/>
                </a:solidFill>
              </a:rPr>
              <a:t>np.interp</a:t>
            </a:r>
            <a:r>
              <a:rPr lang="fr-FR" sz="1400" noProof="0" dirty="0">
                <a:solidFill>
                  <a:schemeClr val="tx2"/>
                </a:solidFill>
              </a:rPr>
              <a:t>) de l'épaisseur du trait (8 → 2 px) et du rayon du point d'impact (16 → 4 px).</a:t>
            </a:r>
            <a:endParaRPr lang="fr-FR" sz="1400" noProof="0" dirty="0"/>
          </a:p>
        </p:txBody>
      </p:sp>
      <p:sp>
        <p:nvSpPr>
          <p:cNvPr id="22" name="Carte couleur"/>
          <p:cNvSpPr/>
          <p:nvPr/>
        </p:nvSpPr>
        <p:spPr>
          <a:xfrm>
            <a:off x="6309360" y="3749040"/>
            <a:ext cx="5239512" cy="2468880"/>
          </a:xfrm>
          <a:prstGeom prst="roundRect">
            <a:avLst>
              <a:gd name="adj" fmla="val 4444"/>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23" name="Pastille 3"/>
          <p:cNvSpPr/>
          <p:nvPr/>
        </p:nvSpPr>
        <p:spPr>
          <a:xfrm>
            <a:off x="6583680" y="3977640"/>
            <a:ext cx="548640" cy="548640"/>
          </a:xfrm>
          <a:prstGeom prst="ellipse">
            <a:avLst/>
          </a:prstGeom>
          <a:solidFill>
            <a:schemeClr val="accent4"/>
          </a:solidFill>
          <a:ln/>
        </p:spPr>
        <p:txBody>
          <a:bodyPr/>
          <a:lstStyle/>
          <a:p>
            <a:endParaRPr lang="fr-FR" noProof="0" dirty="0"/>
          </a:p>
        </p:txBody>
      </p:sp>
      <p:sp>
        <p:nvSpPr>
          <p:cNvPr id="24" name="Numéro 3"/>
          <p:cNvSpPr txBox="1"/>
          <p:nvPr/>
        </p:nvSpPr>
        <p:spPr>
          <a:xfrm>
            <a:off x="6583680" y="3977640"/>
            <a:ext cx="548640" cy="548640"/>
          </a:xfrm>
          <a:prstGeom prst="rect">
            <a:avLst/>
          </a:prstGeom>
          <a:noFill/>
          <a:ln/>
        </p:spPr>
        <p:txBody>
          <a:bodyPr wrap="square" lIns="0" tIns="0" rIns="0" bIns="0" rtlCol="0" anchor="ctr"/>
          <a:lstStyle/>
          <a:p>
            <a:pPr marL="0" indent="0" algn="ctr">
              <a:buNone/>
            </a:pPr>
            <a:r>
              <a:rPr lang="fr-FR" sz="2000" b="1" noProof="0" dirty="0">
                <a:solidFill>
                  <a:schemeClr val="bg1"/>
                </a:solidFill>
                <a:latin typeface="Cambria" pitchFamily="34" charset="0"/>
                <a:ea typeface="Cambria" pitchFamily="34" charset="-122"/>
                <a:cs typeface="Cambria" pitchFamily="34" charset="-120"/>
              </a:rPr>
              <a:t>3</a:t>
            </a:r>
            <a:endParaRPr lang="fr-FR" sz="2000" noProof="0" dirty="0"/>
          </a:p>
        </p:txBody>
      </p:sp>
      <p:sp>
        <p:nvSpPr>
          <p:cNvPr id="25" name="Text 23"/>
          <p:cNvSpPr txBox="1"/>
          <p:nvPr/>
        </p:nvSpPr>
        <p:spPr>
          <a:xfrm>
            <a:off x="7315200" y="3977640"/>
            <a:ext cx="4023360" cy="548640"/>
          </a:xfrm>
          <a:prstGeom prst="rect">
            <a:avLst/>
          </a:prstGeom>
          <a:noFill/>
          <a:ln/>
        </p:spPr>
        <p:txBody>
          <a:bodyPr wrap="square" lIns="0" tIns="0" rIns="0" bIns="0" rtlCol="0" anchor="ctr"/>
          <a:lstStyle/>
          <a:p>
            <a:pPr marL="0" indent="0">
              <a:buNone/>
            </a:pPr>
            <a:r>
              <a:rPr lang="fr-FR" sz="1800" b="1" noProof="0" dirty="0">
                <a:solidFill>
                  <a:schemeClr val="tx1"/>
                </a:solidFill>
              </a:rPr>
              <a:t>Transition de couleur BGR</a:t>
            </a:r>
            <a:endParaRPr lang="fr-FR" sz="1800" noProof="0" dirty="0"/>
          </a:p>
        </p:txBody>
      </p:sp>
      <p:sp>
        <p:nvSpPr>
          <p:cNvPr id="26" name="Text 24"/>
          <p:cNvSpPr txBox="1"/>
          <p:nvPr/>
        </p:nvSpPr>
        <p:spPr>
          <a:xfrm>
            <a:off x="6583680" y="4663440"/>
            <a:ext cx="4754880" cy="914400"/>
          </a:xfrm>
          <a:prstGeom prst="rect">
            <a:avLst/>
          </a:prstGeom>
          <a:noFill/>
          <a:ln/>
        </p:spPr>
        <p:txBody>
          <a:bodyPr wrap="square" lIns="0" tIns="0" rIns="0" bIns="0" rtlCol="0" anchor="t"/>
          <a:lstStyle/>
          <a:p>
            <a:pPr marL="342900" indent="-342900">
              <a:spcAft>
                <a:spcPts val="400"/>
              </a:spcAft>
              <a:buSzPct val="100000"/>
              <a:buChar char="•"/>
            </a:pPr>
            <a:r>
              <a:rPr lang="fr-FR" sz="1400" noProof="0" dirty="0">
                <a:solidFill>
                  <a:schemeClr val="tx2"/>
                </a:solidFill>
              </a:rPr>
              <a:t>Couleur calculée selon le ratio distance / seuil : du vert (éloignés) au rouge (contact).</a:t>
            </a:r>
            <a:endParaRPr lang="fr-FR" sz="1400" noProof="0" dirty="0"/>
          </a:p>
          <a:p>
            <a:pPr marL="342900" indent="-342900">
              <a:buSzPct val="100000"/>
              <a:buChar char="•"/>
            </a:pPr>
            <a:r>
              <a:rPr lang="fr-FR" sz="1400" noProof="0" dirty="0">
                <a:solidFill>
                  <a:schemeClr val="tx2"/>
                </a:solidFill>
              </a:rPr>
              <a:t>Trait entre les deux bouts de doigts et point central cerclé de blanc.</a:t>
            </a:r>
            <a:endParaRPr lang="fr-FR" sz="1400" noProof="0" dirty="0"/>
          </a:p>
        </p:txBody>
      </p:sp>
      <p:pic>
        <p:nvPicPr>
          <p:cNvPr id="27" name="Dégradé vert vers rouge" descr="preencoded.png"/>
          <p:cNvPicPr>
            <a:picLocks noChangeAspect="1"/>
          </p:cNvPicPr>
          <p:nvPr/>
        </p:nvPicPr>
        <p:blipFill>
          <a:blip r:embed="rId3"/>
          <a:stretch>
            <a:fillRect/>
          </a:stretch>
        </p:blipFill>
        <p:spPr>
          <a:xfrm>
            <a:off x="6583680" y="5806440"/>
            <a:ext cx="4754880" cy="155448"/>
          </a:xfrm>
          <a:prstGeom prst="rect">
            <a:avLst/>
          </a:prstGeom>
        </p:spPr>
      </p:pic>
      <p:sp>
        <p:nvSpPr>
          <p:cNvPr id="28" name="Text 25"/>
          <p:cNvSpPr txBox="1"/>
          <p:nvPr/>
        </p:nvSpPr>
        <p:spPr>
          <a:xfrm>
            <a:off x="6583680" y="5961888"/>
            <a:ext cx="1828800" cy="228600"/>
          </a:xfrm>
          <a:prstGeom prst="rect">
            <a:avLst/>
          </a:prstGeom>
          <a:noFill/>
          <a:ln/>
        </p:spPr>
        <p:txBody>
          <a:bodyPr wrap="square" lIns="0" tIns="0" rIns="0" bIns="0" rtlCol="0" anchor="ctr"/>
          <a:lstStyle/>
          <a:p>
            <a:pPr marL="0" indent="0">
              <a:buNone/>
            </a:pPr>
            <a:r>
              <a:rPr lang="fr-FR" sz="1100" noProof="0" dirty="0">
                <a:solidFill>
                  <a:schemeClr val="accent5"/>
                </a:solidFill>
              </a:rPr>
              <a:t>Éloignés</a:t>
            </a:r>
            <a:endParaRPr lang="fr-FR" sz="1100" noProof="0" dirty="0"/>
          </a:p>
        </p:txBody>
      </p:sp>
      <p:sp>
        <p:nvSpPr>
          <p:cNvPr id="29" name="Text 26"/>
          <p:cNvSpPr txBox="1"/>
          <p:nvPr/>
        </p:nvSpPr>
        <p:spPr>
          <a:xfrm>
            <a:off x="9509760" y="5961888"/>
            <a:ext cx="1828800" cy="228600"/>
          </a:xfrm>
          <a:prstGeom prst="rect">
            <a:avLst/>
          </a:prstGeom>
          <a:noFill/>
          <a:ln/>
        </p:spPr>
        <p:txBody>
          <a:bodyPr wrap="square" lIns="0" tIns="0" rIns="0" bIns="0" rtlCol="0" anchor="ctr"/>
          <a:lstStyle/>
          <a:p>
            <a:pPr marL="0" indent="0" algn="r">
              <a:buNone/>
            </a:pPr>
            <a:r>
              <a:rPr lang="fr-FR" sz="1100" noProof="0" dirty="0">
                <a:solidFill>
                  <a:schemeClr val="accent5"/>
                </a:solidFill>
              </a:rPr>
              <a:t>Contact</a:t>
            </a:r>
            <a:endParaRPr lang="fr-FR" sz="1100" noProof="0" dirty="0"/>
          </a:p>
        </p:txBody>
      </p:sp>
      <p:sp>
        <p:nvSpPr>
          <p:cNvPr id="30" name="Slide Number Placeholder 0"/>
          <p:cNvSpPr>
            <a:spLocks noGrp="1"/>
          </p:cNvSpPr>
          <p:nvPr>
            <p:ph type="sldNum" sz="quarter" idx="4294967295"/>
          </p:nvPr>
        </p:nvSpPr>
        <p:spPr>
          <a:xfrm>
            <a:off x="10881360" y="6382512"/>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fr-FR" b="0" noProof="0" smtClean="0"/>
              <a:t>6</a:t>
            </a:fld>
            <a:endParaRPr lang="fr-FR"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a:spLocks noGrp="1"/>
          </p:cNvSpPr>
          <p:nvPr>
            <p:ph type="body" idx="102" hasCustomPrompt="1"/>
          </p:nvPr>
        </p:nvSpPr>
        <p:spPr>
          <a:xfrm>
            <a:off x="640080" y="411480"/>
            <a:ext cx="7315200" cy="274320"/>
          </a:xfrm>
          <a:prstGeom prst="rect">
            <a:avLst/>
          </a:prstGeom>
          <a:noFill/>
          <a:ln/>
        </p:spPr>
        <p:txBody>
          <a:bodyPr wrap="square" lIns="0" tIns="0" rIns="0" bIns="0" rtlCol="0" anchor="ctr"/>
          <a:lstStyle/>
          <a:p>
            <a:pPr marL="0" indent="0">
              <a:buNone/>
            </a:pPr>
            <a:r>
              <a:rPr lang="fr-FR" sz="1200" b="1" kern="0" spc="300" noProof="0" dirty="0">
                <a:solidFill>
                  <a:schemeClr val="accent1"/>
                </a:solidFill>
              </a:rPr>
              <a:t>PARTIE 3 — DÉMONSTRATION</a:t>
            </a:r>
            <a:endParaRPr lang="fr-FR" sz="1200" noProof="0" dirty="0"/>
          </a:p>
        </p:txBody>
      </p:sp>
      <p:sp>
        <p:nvSpPr>
          <p:cNvPr id="3" name="Text 2"/>
          <p:cNvSpPr>
            <a:spLocks noGrp="1"/>
          </p:cNvSpPr>
          <p:nvPr>
            <p:ph type="title" idx="103" hasCustomPrompt="1"/>
          </p:nvPr>
        </p:nvSpPr>
        <p:spPr>
          <a:xfrm>
            <a:off x="640080" y="731520"/>
            <a:ext cx="10881360" cy="868680"/>
          </a:xfrm>
          <a:prstGeom prst="rect">
            <a:avLst/>
          </a:prstGeom>
          <a:noFill/>
          <a:ln/>
        </p:spPr>
        <p:txBody>
          <a:bodyPr wrap="square" lIns="0" tIns="0" rIns="0" bIns="0" rtlCol="0" anchor="ctr"/>
          <a:lstStyle/>
          <a:p>
            <a:pPr marL="0" indent="0" algn="l">
              <a:buNone/>
            </a:pPr>
            <a:r>
              <a:rPr lang="fr-FR" sz="3600" b="1" noProof="0" dirty="0">
                <a:solidFill>
                  <a:schemeClr val="bg1"/>
                </a:solidFill>
              </a:rPr>
              <a:t>Démonstration temps réel de la réalisation</a:t>
            </a:r>
            <a:endParaRPr lang="fr-FR" sz="3600" noProof="0" dirty="0"/>
          </a:p>
        </p:txBody>
      </p:sp>
      <p:sp>
        <p:nvSpPr>
          <p:cNvPr id="4" name="Carte démo 1"/>
          <p:cNvSpPr/>
          <p:nvPr/>
        </p:nvSpPr>
        <p:spPr>
          <a:xfrm>
            <a:off x="640080" y="1828800"/>
            <a:ext cx="5303520" cy="2057400"/>
          </a:xfrm>
          <a:prstGeom prst="roundRect">
            <a:avLst>
              <a:gd name="adj" fmla="val 5333"/>
            </a:avLst>
          </a:prstGeom>
          <a:solidFill>
            <a:schemeClr val="tx2"/>
          </a:solidFill>
          <a:ln/>
        </p:spPr>
        <p:txBody>
          <a:bodyPr/>
          <a:lstStyle/>
          <a:p>
            <a:endParaRPr lang="fr-FR" noProof="0" dirty="0"/>
          </a:p>
        </p:txBody>
      </p:sp>
      <p:sp>
        <p:nvSpPr>
          <p:cNvPr id="5" name="Pastille 1"/>
          <p:cNvSpPr/>
          <p:nvPr/>
        </p:nvSpPr>
        <p:spPr>
          <a:xfrm>
            <a:off x="960120" y="2194560"/>
            <a:ext cx="685800" cy="685800"/>
          </a:xfrm>
          <a:prstGeom prst="ellipse">
            <a:avLst/>
          </a:prstGeom>
          <a:solidFill>
            <a:schemeClr val="accent1"/>
          </a:solidFill>
          <a:ln/>
        </p:spPr>
        <p:txBody>
          <a:bodyPr/>
          <a:lstStyle/>
          <a:p>
            <a:endParaRPr lang="fr-FR" noProof="0" dirty="0"/>
          </a:p>
        </p:txBody>
      </p:sp>
      <p:sp>
        <p:nvSpPr>
          <p:cNvPr id="6" name="Numéro 1"/>
          <p:cNvSpPr txBox="1"/>
          <p:nvPr/>
        </p:nvSpPr>
        <p:spPr>
          <a:xfrm>
            <a:off x="960120" y="2194560"/>
            <a:ext cx="685800" cy="685800"/>
          </a:xfrm>
          <a:prstGeom prst="rect">
            <a:avLst/>
          </a:prstGeom>
          <a:noFill/>
          <a:ln/>
        </p:spPr>
        <p:txBody>
          <a:bodyPr wrap="square" lIns="0" tIns="0" rIns="0" bIns="0" rtlCol="0" anchor="ctr"/>
          <a:lstStyle/>
          <a:p>
            <a:pPr marL="0" indent="0" algn="ctr">
              <a:buNone/>
            </a:pPr>
            <a:r>
              <a:rPr lang="fr-FR" sz="2400" b="1" noProof="0" dirty="0">
                <a:solidFill>
                  <a:schemeClr val="tx1"/>
                </a:solidFill>
                <a:latin typeface="Cambria" pitchFamily="34" charset="0"/>
                <a:ea typeface="Cambria" pitchFamily="34" charset="-122"/>
                <a:cs typeface="Cambria" pitchFamily="34" charset="-120"/>
              </a:rPr>
              <a:t>1</a:t>
            </a:r>
            <a:endParaRPr lang="fr-FR" sz="2400" noProof="0" dirty="0"/>
          </a:p>
        </p:txBody>
      </p:sp>
      <p:sp>
        <p:nvSpPr>
          <p:cNvPr id="7" name="Text 5"/>
          <p:cNvSpPr txBox="1"/>
          <p:nvPr/>
        </p:nvSpPr>
        <p:spPr>
          <a:xfrm>
            <a:off x="1920240" y="2194560"/>
            <a:ext cx="3749040" cy="685800"/>
          </a:xfrm>
          <a:prstGeom prst="rect">
            <a:avLst/>
          </a:prstGeom>
          <a:noFill/>
          <a:ln/>
        </p:spPr>
        <p:txBody>
          <a:bodyPr wrap="square" lIns="0" tIns="0" rIns="0" bIns="0" rtlCol="0" anchor="ctr"/>
          <a:lstStyle/>
          <a:p>
            <a:pPr marL="0" indent="0">
              <a:buNone/>
            </a:pPr>
            <a:r>
              <a:rPr lang="fr-FR" sz="2200" b="1" noProof="0" dirty="0">
                <a:solidFill>
                  <a:schemeClr val="bg1"/>
                </a:solidFill>
              </a:rPr>
              <a:t>Détection &amp; squelette</a:t>
            </a:r>
            <a:endParaRPr lang="fr-FR" sz="2200" noProof="0" dirty="0"/>
          </a:p>
        </p:txBody>
      </p:sp>
      <p:sp>
        <p:nvSpPr>
          <p:cNvPr id="8" name="Text 6"/>
          <p:cNvSpPr txBox="1"/>
          <p:nvPr/>
        </p:nvSpPr>
        <p:spPr>
          <a:xfrm>
            <a:off x="960120" y="3017520"/>
            <a:ext cx="4663440" cy="731520"/>
          </a:xfrm>
          <a:prstGeom prst="rect">
            <a:avLst/>
          </a:prstGeom>
          <a:noFill/>
          <a:ln/>
        </p:spPr>
        <p:txBody>
          <a:bodyPr wrap="square" lIns="0" tIns="0" rIns="0" bIns="0" rtlCol="0" anchor="t"/>
          <a:lstStyle/>
          <a:p>
            <a:pPr marL="0" indent="0">
              <a:buNone/>
            </a:pPr>
            <a:r>
              <a:rPr lang="fr-FR" sz="1600" noProof="0" dirty="0">
                <a:solidFill>
                  <a:schemeClr val="accent6"/>
                </a:solidFill>
              </a:rPr>
              <a:t>Lancement du script : la webcam s'ouvre en miroir et le squelette à 21 repères se dessine sur la main.</a:t>
            </a:r>
            <a:endParaRPr lang="fr-FR" sz="1600" noProof="0" dirty="0"/>
          </a:p>
        </p:txBody>
      </p:sp>
      <p:sp>
        <p:nvSpPr>
          <p:cNvPr id="9" name="Carte démo 2"/>
          <p:cNvSpPr/>
          <p:nvPr/>
        </p:nvSpPr>
        <p:spPr>
          <a:xfrm>
            <a:off x="6245352" y="1828800"/>
            <a:ext cx="5303520" cy="2057400"/>
          </a:xfrm>
          <a:prstGeom prst="roundRect">
            <a:avLst>
              <a:gd name="adj" fmla="val 5333"/>
            </a:avLst>
          </a:prstGeom>
          <a:solidFill>
            <a:schemeClr val="tx2"/>
          </a:solidFill>
          <a:ln/>
        </p:spPr>
        <p:txBody>
          <a:bodyPr/>
          <a:lstStyle/>
          <a:p>
            <a:endParaRPr lang="fr-FR" noProof="0" dirty="0"/>
          </a:p>
        </p:txBody>
      </p:sp>
      <p:sp>
        <p:nvSpPr>
          <p:cNvPr id="10" name="Pastille 2"/>
          <p:cNvSpPr/>
          <p:nvPr/>
        </p:nvSpPr>
        <p:spPr>
          <a:xfrm>
            <a:off x="6565392" y="2194560"/>
            <a:ext cx="685800" cy="685800"/>
          </a:xfrm>
          <a:prstGeom prst="ellipse">
            <a:avLst/>
          </a:prstGeom>
          <a:solidFill>
            <a:schemeClr val="accent1"/>
          </a:solidFill>
          <a:ln/>
        </p:spPr>
        <p:txBody>
          <a:bodyPr/>
          <a:lstStyle/>
          <a:p>
            <a:endParaRPr lang="fr-FR" noProof="0" dirty="0"/>
          </a:p>
        </p:txBody>
      </p:sp>
      <p:sp>
        <p:nvSpPr>
          <p:cNvPr id="11" name="Numéro 2"/>
          <p:cNvSpPr txBox="1"/>
          <p:nvPr/>
        </p:nvSpPr>
        <p:spPr>
          <a:xfrm>
            <a:off x="6565392" y="2194560"/>
            <a:ext cx="685800" cy="685800"/>
          </a:xfrm>
          <a:prstGeom prst="rect">
            <a:avLst/>
          </a:prstGeom>
          <a:noFill/>
          <a:ln/>
        </p:spPr>
        <p:txBody>
          <a:bodyPr wrap="square" lIns="0" tIns="0" rIns="0" bIns="0" rtlCol="0" anchor="ctr"/>
          <a:lstStyle/>
          <a:p>
            <a:pPr marL="0" indent="0" algn="ctr">
              <a:buNone/>
            </a:pPr>
            <a:r>
              <a:rPr lang="fr-FR" sz="2400" b="1" noProof="0" dirty="0">
                <a:solidFill>
                  <a:schemeClr val="tx1"/>
                </a:solidFill>
                <a:latin typeface="Cambria" pitchFamily="34" charset="0"/>
                <a:ea typeface="Cambria" pitchFamily="34" charset="-122"/>
                <a:cs typeface="Cambria" pitchFamily="34" charset="-120"/>
              </a:rPr>
              <a:t>2</a:t>
            </a:r>
            <a:endParaRPr lang="fr-FR" sz="2400" noProof="0" dirty="0"/>
          </a:p>
        </p:txBody>
      </p:sp>
      <p:sp>
        <p:nvSpPr>
          <p:cNvPr id="12" name="Text 10"/>
          <p:cNvSpPr txBox="1"/>
          <p:nvPr/>
        </p:nvSpPr>
        <p:spPr>
          <a:xfrm>
            <a:off x="7525512" y="2194560"/>
            <a:ext cx="3749040" cy="685800"/>
          </a:xfrm>
          <a:prstGeom prst="rect">
            <a:avLst/>
          </a:prstGeom>
          <a:noFill/>
          <a:ln/>
        </p:spPr>
        <p:txBody>
          <a:bodyPr wrap="square" lIns="0" tIns="0" rIns="0" bIns="0" rtlCol="0" anchor="ctr"/>
          <a:lstStyle/>
          <a:p>
            <a:pPr marL="0" indent="0">
              <a:buNone/>
            </a:pPr>
            <a:r>
              <a:rPr lang="fr-FR" sz="2200" b="1" noProof="0" dirty="0">
                <a:solidFill>
                  <a:schemeClr val="bg1"/>
                </a:solidFill>
              </a:rPr>
              <a:t>Comptage des doigts</a:t>
            </a:r>
            <a:endParaRPr lang="fr-FR" sz="2200" noProof="0" dirty="0"/>
          </a:p>
        </p:txBody>
      </p:sp>
      <p:sp>
        <p:nvSpPr>
          <p:cNvPr id="13" name="Text 11"/>
          <p:cNvSpPr txBox="1"/>
          <p:nvPr/>
        </p:nvSpPr>
        <p:spPr>
          <a:xfrm>
            <a:off x="6565392" y="3017520"/>
            <a:ext cx="4663440" cy="731520"/>
          </a:xfrm>
          <a:prstGeom prst="rect">
            <a:avLst/>
          </a:prstGeom>
          <a:noFill/>
          <a:ln/>
        </p:spPr>
        <p:txBody>
          <a:bodyPr wrap="square" lIns="0" tIns="0" rIns="0" bIns="0" rtlCol="0" anchor="t"/>
          <a:lstStyle/>
          <a:p>
            <a:pPr marL="0" indent="0">
              <a:buNone/>
            </a:pPr>
            <a:r>
              <a:rPr lang="fr-FR" sz="1600" noProof="0" dirty="0">
                <a:solidFill>
                  <a:schemeClr val="accent6"/>
                </a:solidFill>
              </a:rPr>
              <a:t>Lever et baisser les doigts : le total s'affiche en direct, avec le compteur FPS.</a:t>
            </a:r>
            <a:endParaRPr lang="fr-FR" sz="1600" noProof="0" dirty="0"/>
          </a:p>
        </p:txBody>
      </p:sp>
      <p:sp>
        <p:nvSpPr>
          <p:cNvPr id="14" name="Carte démo 3"/>
          <p:cNvSpPr/>
          <p:nvPr/>
        </p:nvSpPr>
        <p:spPr>
          <a:xfrm>
            <a:off x="640080" y="4160520"/>
            <a:ext cx="5303520" cy="2057400"/>
          </a:xfrm>
          <a:prstGeom prst="roundRect">
            <a:avLst>
              <a:gd name="adj" fmla="val 5333"/>
            </a:avLst>
          </a:prstGeom>
          <a:solidFill>
            <a:schemeClr val="tx2"/>
          </a:solidFill>
          <a:ln/>
        </p:spPr>
        <p:txBody>
          <a:bodyPr/>
          <a:lstStyle/>
          <a:p>
            <a:endParaRPr lang="fr-FR" noProof="0" dirty="0"/>
          </a:p>
        </p:txBody>
      </p:sp>
      <p:sp>
        <p:nvSpPr>
          <p:cNvPr id="15" name="Pastille 3"/>
          <p:cNvSpPr/>
          <p:nvPr/>
        </p:nvSpPr>
        <p:spPr>
          <a:xfrm>
            <a:off x="960120" y="4526280"/>
            <a:ext cx="685800" cy="685800"/>
          </a:xfrm>
          <a:prstGeom prst="ellipse">
            <a:avLst/>
          </a:prstGeom>
          <a:solidFill>
            <a:schemeClr val="accent1"/>
          </a:solidFill>
          <a:ln/>
        </p:spPr>
        <p:txBody>
          <a:bodyPr/>
          <a:lstStyle/>
          <a:p>
            <a:endParaRPr lang="fr-FR" noProof="0" dirty="0"/>
          </a:p>
        </p:txBody>
      </p:sp>
      <p:sp>
        <p:nvSpPr>
          <p:cNvPr id="16" name="Numéro 3"/>
          <p:cNvSpPr txBox="1"/>
          <p:nvPr/>
        </p:nvSpPr>
        <p:spPr>
          <a:xfrm>
            <a:off x="960120" y="4526280"/>
            <a:ext cx="685800" cy="685800"/>
          </a:xfrm>
          <a:prstGeom prst="rect">
            <a:avLst/>
          </a:prstGeom>
          <a:noFill/>
          <a:ln/>
        </p:spPr>
        <p:txBody>
          <a:bodyPr wrap="square" lIns="0" tIns="0" rIns="0" bIns="0" rtlCol="0" anchor="ctr"/>
          <a:lstStyle/>
          <a:p>
            <a:pPr marL="0" indent="0" algn="ctr">
              <a:buNone/>
            </a:pPr>
            <a:r>
              <a:rPr lang="fr-FR" sz="2400" b="1" noProof="0" dirty="0">
                <a:solidFill>
                  <a:schemeClr val="tx1"/>
                </a:solidFill>
                <a:latin typeface="Cambria" pitchFamily="34" charset="0"/>
                <a:ea typeface="Cambria" pitchFamily="34" charset="-122"/>
                <a:cs typeface="Cambria" pitchFamily="34" charset="-120"/>
              </a:rPr>
              <a:t>3</a:t>
            </a:r>
            <a:endParaRPr lang="fr-FR" sz="2400" noProof="0" dirty="0"/>
          </a:p>
        </p:txBody>
      </p:sp>
      <p:sp>
        <p:nvSpPr>
          <p:cNvPr id="17" name="Text 15"/>
          <p:cNvSpPr txBox="1"/>
          <p:nvPr/>
        </p:nvSpPr>
        <p:spPr>
          <a:xfrm>
            <a:off x="1920240" y="4526280"/>
            <a:ext cx="3749040" cy="685800"/>
          </a:xfrm>
          <a:prstGeom prst="rect">
            <a:avLst/>
          </a:prstGeom>
          <a:noFill/>
          <a:ln/>
        </p:spPr>
        <p:txBody>
          <a:bodyPr wrap="square" lIns="0" tIns="0" rIns="0" bIns="0" rtlCol="0" anchor="ctr"/>
          <a:lstStyle/>
          <a:p>
            <a:pPr marL="0" indent="0">
              <a:buNone/>
            </a:pPr>
            <a:r>
              <a:rPr lang="fr-FR" sz="2200" b="1" noProof="0" dirty="0">
                <a:solidFill>
                  <a:schemeClr val="bg1"/>
                </a:solidFill>
              </a:rPr>
              <a:t>Effet de proximité</a:t>
            </a:r>
            <a:endParaRPr lang="fr-FR" sz="2200" noProof="0" dirty="0"/>
          </a:p>
        </p:txBody>
      </p:sp>
      <p:sp>
        <p:nvSpPr>
          <p:cNvPr id="18" name="Text 16"/>
          <p:cNvSpPr txBox="1"/>
          <p:nvPr/>
        </p:nvSpPr>
        <p:spPr>
          <a:xfrm>
            <a:off x="960120" y="5349240"/>
            <a:ext cx="4663440" cy="731520"/>
          </a:xfrm>
          <a:prstGeom prst="rect">
            <a:avLst/>
          </a:prstGeom>
          <a:noFill/>
          <a:ln/>
        </p:spPr>
        <p:txBody>
          <a:bodyPr wrap="square" lIns="0" tIns="0" rIns="0" bIns="0" rtlCol="0" anchor="t"/>
          <a:lstStyle/>
          <a:p>
            <a:pPr marL="0" indent="0">
              <a:buNone/>
            </a:pPr>
            <a:r>
              <a:rPr lang="fr-FR" sz="1600" noProof="0" dirty="0">
                <a:solidFill>
                  <a:schemeClr val="accent6"/>
                </a:solidFill>
              </a:rPr>
              <a:t>Rapprochement de deux bouts de doigts : trait dynamique, point d'impact et changement de couleur.</a:t>
            </a:r>
            <a:endParaRPr lang="fr-FR" sz="1600" noProof="0" dirty="0"/>
          </a:p>
        </p:txBody>
      </p:sp>
      <p:sp>
        <p:nvSpPr>
          <p:cNvPr id="19" name="Carte démo 4"/>
          <p:cNvSpPr/>
          <p:nvPr/>
        </p:nvSpPr>
        <p:spPr>
          <a:xfrm>
            <a:off x="6245352" y="4160520"/>
            <a:ext cx="5303520" cy="2057400"/>
          </a:xfrm>
          <a:prstGeom prst="roundRect">
            <a:avLst>
              <a:gd name="adj" fmla="val 5333"/>
            </a:avLst>
          </a:prstGeom>
          <a:solidFill>
            <a:schemeClr val="tx2"/>
          </a:solidFill>
          <a:ln/>
        </p:spPr>
        <p:txBody>
          <a:bodyPr/>
          <a:lstStyle/>
          <a:p>
            <a:endParaRPr lang="fr-FR" noProof="0" dirty="0"/>
          </a:p>
        </p:txBody>
      </p:sp>
      <p:sp>
        <p:nvSpPr>
          <p:cNvPr id="20" name="Pastille 4"/>
          <p:cNvSpPr/>
          <p:nvPr/>
        </p:nvSpPr>
        <p:spPr>
          <a:xfrm>
            <a:off x="6565392" y="4526280"/>
            <a:ext cx="685800" cy="685800"/>
          </a:xfrm>
          <a:prstGeom prst="ellipse">
            <a:avLst/>
          </a:prstGeom>
          <a:solidFill>
            <a:schemeClr val="accent1"/>
          </a:solidFill>
          <a:ln/>
        </p:spPr>
        <p:txBody>
          <a:bodyPr/>
          <a:lstStyle/>
          <a:p>
            <a:endParaRPr lang="fr-FR" noProof="0" dirty="0"/>
          </a:p>
        </p:txBody>
      </p:sp>
      <p:sp>
        <p:nvSpPr>
          <p:cNvPr id="21" name="Numéro 4"/>
          <p:cNvSpPr txBox="1"/>
          <p:nvPr/>
        </p:nvSpPr>
        <p:spPr>
          <a:xfrm>
            <a:off x="6565392" y="4526280"/>
            <a:ext cx="685800" cy="685800"/>
          </a:xfrm>
          <a:prstGeom prst="rect">
            <a:avLst/>
          </a:prstGeom>
          <a:noFill/>
          <a:ln/>
        </p:spPr>
        <p:txBody>
          <a:bodyPr wrap="square" lIns="0" tIns="0" rIns="0" bIns="0" rtlCol="0" anchor="ctr"/>
          <a:lstStyle/>
          <a:p>
            <a:pPr marL="0" indent="0" algn="ctr">
              <a:buNone/>
            </a:pPr>
            <a:r>
              <a:rPr lang="fr-FR" sz="2400" b="1" noProof="0" dirty="0">
                <a:solidFill>
                  <a:schemeClr val="tx1"/>
                </a:solidFill>
                <a:latin typeface="Cambria" pitchFamily="34" charset="0"/>
                <a:ea typeface="Cambria" pitchFamily="34" charset="-122"/>
                <a:cs typeface="Cambria" pitchFamily="34" charset="-120"/>
              </a:rPr>
              <a:t>4</a:t>
            </a:r>
            <a:endParaRPr lang="fr-FR" sz="2400" noProof="0" dirty="0"/>
          </a:p>
        </p:txBody>
      </p:sp>
      <p:sp>
        <p:nvSpPr>
          <p:cNvPr id="22" name="Text 20"/>
          <p:cNvSpPr txBox="1"/>
          <p:nvPr/>
        </p:nvSpPr>
        <p:spPr>
          <a:xfrm>
            <a:off x="7525512" y="4526280"/>
            <a:ext cx="3749040" cy="685800"/>
          </a:xfrm>
          <a:prstGeom prst="rect">
            <a:avLst/>
          </a:prstGeom>
          <a:noFill/>
          <a:ln/>
        </p:spPr>
        <p:txBody>
          <a:bodyPr wrap="square" lIns="0" tIns="0" rIns="0" bIns="0" rtlCol="0" anchor="ctr"/>
          <a:lstStyle/>
          <a:p>
            <a:pPr marL="0" indent="0">
              <a:buNone/>
            </a:pPr>
            <a:r>
              <a:rPr lang="fr-FR" sz="2200" b="1" noProof="0" dirty="0">
                <a:solidFill>
                  <a:schemeClr val="bg1"/>
                </a:solidFill>
              </a:rPr>
              <a:t>Deux mains &amp; gestes</a:t>
            </a:r>
            <a:endParaRPr lang="fr-FR" sz="2200" noProof="0" dirty="0"/>
          </a:p>
        </p:txBody>
      </p:sp>
      <p:sp>
        <p:nvSpPr>
          <p:cNvPr id="23" name="Text 21"/>
          <p:cNvSpPr txBox="1"/>
          <p:nvPr/>
        </p:nvSpPr>
        <p:spPr>
          <a:xfrm>
            <a:off x="6565392" y="5349240"/>
            <a:ext cx="4663440" cy="731520"/>
          </a:xfrm>
          <a:prstGeom prst="rect">
            <a:avLst/>
          </a:prstGeom>
          <a:noFill/>
          <a:ln/>
        </p:spPr>
        <p:txBody>
          <a:bodyPr wrap="square" lIns="0" tIns="0" rIns="0" bIns="0" rtlCol="0" anchor="t"/>
          <a:lstStyle/>
          <a:p>
            <a:pPr marL="0" indent="0">
              <a:buNone/>
            </a:pPr>
            <a:r>
              <a:rPr lang="fr-FR" sz="1600" noProof="0" dirty="0">
                <a:solidFill>
                  <a:schemeClr val="accent6"/>
                </a:solidFill>
              </a:rPr>
              <a:t>Test des deux mains, puis des gestes : pouce levé, </a:t>
            </a:r>
            <a:r>
              <a:rPr lang="fr-FR" sz="1600" noProof="0" dirty="0">
                <a:solidFill>
                  <a:schemeClr val="accent6"/>
                </a:solidFill>
              </a:rPr>
              <a:t>peace</a:t>
            </a:r>
            <a:r>
              <a:rPr lang="fr-FR" sz="1600" noProof="0" dirty="0">
                <a:solidFill>
                  <a:schemeClr val="accent6"/>
                </a:solidFill>
              </a:rPr>
              <a:t>, OK, rock, poing…</a:t>
            </a:r>
            <a:endParaRPr lang="fr-FR" sz="1600" noProof="0" dirty="0"/>
          </a:p>
        </p:txBody>
      </p:sp>
      <p:sp>
        <p:nvSpPr>
          <p:cNvPr id="25" name="Slide Number Placeholder 0"/>
          <p:cNvSpPr>
            <a:spLocks noGrp="1"/>
          </p:cNvSpPr>
          <p:nvPr>
            <p:ph type="sldNum" sz="quarter" idx="4294967295"/>
          </p:nvPr>
        </p:nvSpPr>
        <p:spPr>
          <a:xfrm>
            <a:off x="10881360" y="6382512"/>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fr-FR" b="0" noProof="0" smtClean="0"/>
              <a:t>7</a:t>
            </a:fld>
            <a:endParaRPr lang="fr-FR"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1D171-82CD-7B85-4EAB-FD3DEAB83D52}"/>
            </a:ext>
          </a:extLst>
        </p:cNvPr>
        <p:cNvGrpSpPr/>
        <p:nvPr/>
      </p:nvGrpSpPr>
      <p:grpSpPr>
        <a:xfrm>
          <a:off x="0" y="0"/>
          <a:ext cx="0" cy="0"/>
          <a:chOff x="0" y="0"/>
          <a:chExt cx="0" cy="0"/>
        </a:xfrm>
      </p:grpSpPr>
      <p:sp>
        <p:nvSpPr>
          <p:cNvPr id="3" name="Text 2">
            <a:extLst>
              <a:ext uri="{FF2B5EF4-FFF2-40B4-BE49-F238E27FC236}">
                <a16:creationId xmlns:a16="http://schemas.microsoft.com/office/drawing/2014/main" id="{F69E8A48-CA1C-D7E9-E0DC-4E7B122DE52E}"/>
              </a:ext>
            </a:extLst>
          </p:cNvPr>
          <p:cNvSpPr>
            <a:spLocks noGrp="1"/>
          </p:cNvSpPr>
          <p:nvPr>
            <p:ph type="title" idx="103" hasCustomPrompt="1"/>
          </p:nvPr>
        </p:nvSpPr>
        <p:spPr>
          <a:xfrm>
            <a:off x="3195587" y="2994660"/>
            <a:ext cx="5800825" cy="868680"/>
          </a:xfrm>
          <a:prstGeom prst="rect">
            <a:avLst/>
          </a:prstGeom>
          <a:noFill/>
          <a:ln/>
        </p:spPr>
        <p:txBody>
          <a:bodyPr wrap="square" lIns="0" tIns="0" rIns="0" bIns="0" rtlCol="0" anchor="ctr"/>
          <a:lstStyle/>
          <a:p>
            <a:pPr marL="0" indent="0" algn="ctr">
              <a:buNone/>
            </a:pPr>
            <a:r>
              <a:rPr lang="fr-FR" sz="3600" b="1" noProof="0" dirty="0">
                <a:solidFill>
                  <a:schemeClr val="bg1"/>
                </a:solidFill>
              </a:rPr>
              <a:t>Merci pour votre attention</a:t>
            </a:r>
            <a:endParaRPr lang="fr-FR" sz="3600" noProof="0" dirty="0"/>
          </a:p>
        </p:txBody>
      </p:sp>
      <p:sp>
        <p:nvSpPr>
          <p:cNvPr id="25" name="Slide Number Placeholder 0">
            <a:extLst>
              <a:ext uri="{FF2B5EF4-FFF2-40B4-BE49-F238E27FC236}">
                <a16:creationId xmlns:a16="http://schemas.microsoft.com/office/drawing/2014/main" id="{C7FF7ADB-AC87-7528-7692-817F7B616D15}"/>
              </a:ext>
            </a:extLst>
          </p:cNvPr>
          <p:cNvSpPr>
            <a:spLocks noGrp="1"/>
          </p:cNvSpPr>
          <p:nvPr>
            <p:ph type="sldNum" sz="quarter" idx="4294967295"/>
          </p:nvPr>
        </p:nvSpPr>
        <p:spPr>
          <a:xfrm>
            <a:off x="10881360" y="6382512"/>
            <a:ext cx="667512"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fr-FR" b="0" noProof="0" smtClean="0"/>
              <a:t>8</a:t>
            </a:fld>
            <a:endParaRPr lang="fr-FR" noProof="0" dirty="0"/>
          </a:p>
        </p:txBody>
      </p:sp>
    </p:spTree>
    <p:extLst>
      <p:ext uri="{BB962C8B-B14F-4D97-AF65-F5344CB8AC3E}">
        <p14:creationId xmlns:p14="http://schemas.microsoft.com/office/powerpoint/2010/main" val="2089494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Gestes">
    <p:spTree>
      <p:nvGrpSpPr>
        <p:cNvPr id="1" name=""/>
        <p:cNvGrpSpPr/>
        <p:nvPr/>
      </p:nvGrpSpPr>
      <p:grpSpPr>
        <a:xfrm>
          <a:off x="0" y="0"/>
          <a:ext cx="0" cy="0"/>
          <a:chOff x="0" y="0"/>
          <a:chExt cx="0" cy="0"/>
        </a:xfrm>
      </p:grpSpPr>
      <p:sp>
        <p:nvSpPr>
          <p:cNvPr id="2" name="Text 2"/>
          <p:cNvSpPr>
            <a:spLocks noGrp="1"/>
          </p:cNvSpPr>
          <p:nvPr>
            <p:ph type="body" idx="102" hasCustomPrompt="1"/>
          </p:nvPr>
        </p:nvSpPr>
        <p:spPr>
          <a:xfrm>
            <a:off x="640080" y="411480"/>
            <a:ext cx="7315200" cy="274320"/>
          </a:xfrm>
          <a:prstGeom prst="rect">
            <a:avLst/>
          </a:prstGeom>
          <a:noFill/>
          <a:ln/>
        </p:spPr>
        <p:txBody>
          <a:bodyPr wrap="square" lIns="0" tIns="0" rIns="0" bIns="0" rtlCol="0" anchor="ctr"/>
          <a:lstStyle/>
          <a:p>
            <a:pPr marL="0" indent="0">
              <a:buNone/>
            </a:pPr>
            <a:r>
              <a:rPr lang="fr-FR" sz="1200" b="1" kern="0" spc="300" noProof="0" dirty="0">
                <a:solidFill>
                  <a:schemeClr val="accent4"/>
                </a:solidFill>
              </a:rPr>
              <a:t>PARTIE 2 — MÉTHODOLOGIE</a:t>
            </a:r>
            <a:endParaRPr lang="fr-FR" sz="1200" noProof="0" dirty="0"/>
          </a:p>
        </p:txBody>
      </p:sp>
      <p:sp>
        <p:nvSpPr>
          <p:cNvPr id="3" name="Text 2"/>
          <p:cNvSpPr>
            <a:spLocks noGrp="1"/>
          </p:cNvSpPr>
          <p:nvPr>
            <p:ph type="title" idx="103" hasCustomPrompt="1"/>
          </p:nvPr>
        </p:nvSpPr>
        <p:spPr>
          <a:xfrm>
            <a:off x="640080" y="731520"/>
            <a:ext cx="10881360" cy="868680"/>
          </a:xfrm>
          <a:prstGeom prst="rect">
            <a:avLst/>
          </a:prstGeom>
          <a:noFill/>
          <a:ln/>
        </p:spPr>
        <p:txBody>
          <a:bodyPr wrap="square" lIns="0" tIns="0" rIns="0" bIns="0" rtlCol="0" anchor="ctr"/>
          <a:lstStyle/>
          <a:p>
            <a:pPr marL="0" indent="0" algn="l">
              <a:buNone/>
            </a:pPr>
            <a:r>
              <a:rPr lang="fr-FR" sz="3600" b="1" noProof="0" dirty="0">
                <a:solidFill>
                  <a:schemeClr val="tx1"/>
                </a:solidFill>
              </a:rPr>
              <a:t>Méthodologie : reconnaissance de gestes</a:t>
            </a:r>
            <a:endParaRPr lang="fr-FR" sz="3600" noProof="0" dirty="0"/>
          </a:p>
        </p:txBody>
      </p:sp>
      <p:sp>
        <p:nvSpPr>
          <p:cNvPr id="4" name="Carte étape 1"/>
          <p:cNvSpPr/>
          <p:nvPr/>
        </p:nvSpPr>
        <p:spPr>
          <a:xfrm>
            <a:off x="640080" y="1828800"/>
            <a:ext cx="3429000" cy="4389120"/>
          </a:xfrm>
          <a:prstGeom prst="roundRect">
            <a:avLst>
              <a:gd name="adj" fmla="val 3200"/>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5" name="Pastille 1"/>
          <p:cNvSpPr/>
          <p:nvPr/>
        </p:nvSpPr>
        <p:spPr>
          <a:xfrm>
            <a:off x="960120" y="2148840"/>
            <a:ext cx="640080" cy="640080"/>
          </a:xfrm>
          <a:prstGeom prst="ellipse">
            <a:avLst/>
          </a:prstGeom>
          <a:solidFill>
            <a:schemeClr val="accent4"/>
          </a:solidFill>
          <a:ln/>
        </p:spPr>
        <p:txBody>
          <a:bodyPr/>
          <a:lstStyle/>
          <a:p>
            <a:endParaRPr lang="fr-FR" noProof="0" dirty="0"/>
          </a:p>
        </p:txBody>
      </p:sp>
      <p:sp>
        <p:nvSpPr>
          <p:cNvPr id="6" name="Numéro 1"/>
          <p:cNvSpPr txBox="1"/>
          <p:nvPr/>
        </p:nvSpPr>
        <p:spPr>
          <a:xfrm>
            <a:off x="960120" y="2148840"/>
            <a:ext cx="640080" cy="640080"/>
          </a:xfrm>
          <a:prstGeom prst="rect">
            <a:avLst/>
          </a:prstGeom>
          <a:noFill/>
          <a:ln/>
        </p:spPr>
        <p:txBody>
          <a:bodyPr wrap="square" lIns="0" tIns="0" rIns="0" bIns="0" rtlCol="0" anchor="ctr"/>
          <a:lstStyle/>
          <a:p>
            <a:pPr marL="0" indent="0" algn="ctr">
              <a:buNone/>
            </a:pPr>
            <a:r>
              <a:rPr lang="fr-FR" sz="2400" b="1" noProof="0" dirty="0">
                <a:solidFill>
                  <a:schemeClr val="bg1"/>
                </a:solidFill>
                <a:latin typeface="Cambria" pitchFamily="34" charset="0"/>
                <a:ea typeface="Cambria" pitchFamily="34" charset="-122"/>
                <a:cs typeface="Cambria" pitchFamily="34" charset="-120"/>
              </a:rPr>
              <a:t>1</a:t>
            </a:r>
            <a:endParaRPr lang="fr-FR" sz="2400" noProof="0" dirty="0"/>
          </a:p>
        </p:txBody>
      </p:sp>
      <p:sp>
        <p:nvSpPr>
          <p:cNvPr id="7" name="Text 5"/>
          <p:cNvSpPr txBox="1"/>
          <p:nvPr/>
        </p:nvSpPr>
        <p:spPr>
          <a:xfrm>
            <a:off x="960120" y="2971800"/>
            <a:ext cx="2788920" cy="914400"/>
          </a:xfrm>
          <a:prstGeom prst="rect">
            <a:avLst/>
          </a:prstGeom>
          <a:noFill/>
          <a:ln/>
        </p:spPr>
        <p:txBody>
          <a:bodyPr wrap="square" lIns="0" tIns="0" rIns="0" bIns="0" rtlCol="0" anchor="t"/>
          <a:lstStyle/>
          <a:p>
            <a:pPr marL="0" indent="0">
              <a:spcAft>
                <a:spcPts val="0"/>
              </a:spcAft>
              <a:buNone/>
            </a:pPr>
            <a:r>
              <a:rPr lang="fr-FR" sz="1800" b="1" noProof="0" dirty="0">
                <a:solidFill>
                  <a:schemeClr val="tx1"/>
                </a:solidFill>
              </a:rPr>
              <a:t>Mesures &amp; affichage</a:t>
            </a:r>
            <a:endParaRPr lang="fr-FR" sz="1800" noProof="0" dirty="0"/>
          </a:p>
        </p:txBody>
      </p:sp>
      <p:sp>
        <p:nvSpPr>
          <p:cNvPr id="8" name="Text 6"/>
          <p:cNvSpPr txBox="1"/>
          <p:nvPr/>
        </p:nvSpPr>
        <p:spPr>
          <a:xfrm>
            <a:off x="960120" y="3931920"/>
            <a:ext cx="2788920" cy="2103120"/>
          </a:xfrm>
          <a:prstGeom prst="rect">
            <a:avLst/>
          </a:prstGeom>
          <a:noFill/>
          <a:ln/>
        </p:spPr>
        <p:txBody>
          <a:bodyPr wrap="square" lIns="0" tIns="0" rIns="0" bIns="0" rtlCol="0" anchor="t"/>
          <a:lstStyle/>
          <a:p>
            <a:pPr marL="285750" indent="-285750">
              <a:spcAft>
                <a:spcPts val="600"/>
              </a:spcAft>
              <a:buSzPct val="100000"/>
              <a:buChar char="•"/>
            </a:pPr>
            <a:r>
              <a:rPr lang="fr-FR" sz="1400" noProof="0" dirty="0">
                <a:solidFill>
                  <a:schemeClr val="tx2"/>
                </a:solidFill>
              </a:rPr>
              <a:t>Entrées : doigts levés et 21 repères.</a:t>
            </a:r>
            <a:endParaRPr lang="fr-FR" sz="1400" noProof="0" dirty="0"/>
          </a:p>
          <a:p>
            <a:pPr marL="285750" indent="-285750">
              <a:spcAft>
                <a:spcPts val="600"/>
              </a:spcAft>
              <a:buSzPct val="100000"/>
              <a:buChar char="•"/>
            </a:pPr>
            <a:r>
              <a:rPr lang="fr-FR" sz="1400" noProof="0" dirty="0">
                <a:solidFill>
                  <a:schemeClr val="tx2"/>
                </a:solidFill>
              </a:rPr>
              <a:t>Unité : largeur de paume (repères 5 et 17), pour des seuils indépendants de la distance à la caméra.</a:t>
            </a:r>
            <a:endParaRPr lang="fr-FR" sz="1400" noProof="0" dirty="0"/>
          </a:p>
          <a:p>
            <a:pPr marL="285750" indent="-285750">
              <a:spcAft>
                <a:spcPts val="0"/>
              </a:spcAft>
              <a:buSzPct val="100000"/>
              <a:buChar char="•"/>
            </a:pPr>
            <a:r>
              <a:rPr lang="fr-FR" sz="1400" noProof="0" dirty="0">
                <a:solidFill>
                  <a:schemeClr val="tx2"/>
                </a:solidFill>
              </a:rPr>
              <a:t>Affichage : « Geste : … » en jaune au-dessus de la main.</a:t>
            </a:r>
            <a:endParaRPr lang="fr-FR" sz="1400" noProof="0" dirty="0"/>
          </a:p>
        </p:txBody>
      </p:sp>
      <p:sp>
        <p:nvSpPr>
          <p:cNvPr id="9" name="Carte étape 2"/>
          <p:cNvSpPr/>
          <p:nvPr/>
        </p:nvSpPr>
        <p:spPr>
          <a:xfrm>
            <a:off x="4379976" y="1828800"/>
            <a:ext cx="3429000" cy="4389120"/>
          </a:xfrm>
          <a:prstGeom prst="roundRect">
            <a:avLst>
              <a:gd name="adj" fmla="val 3200"/>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10" name="Pastille 2"/>
          <p:cNvSpPr/>
          <p:nvPr/>
        </p:nvSpPr>
        <p:spPr>
          <a:xfrm>
            <a:off x="4700016" y="2148840"/>
            <a:ext cx="640080" cy="640080"/>
          </a:xfrm>
          <a:prstGeom prst="ellipse">
            <a:avLst/>
          </a:prstGeom>
          <a:solidFill>
            <a:schemeClr val="accent4"/>
          </a:solidFill>
          <a:ln/>
        </p:spPr>
        <p:txBody>
          <a:bodyPr/>
          <a:lstStyle/>
          <a:p>
            <a:endParaRPr lang="fr-FR" noProof="0" dirty="0"/>
          </a:p>
        </p:txBody>
      </p:sp>
      <p:sp>
        <p:nvSpPr>
          <p:cNvPr id="11" name="Numéro 2"/>
          <p:cNvSpPr txBox="1"/>
          <p:nvPr/>
        </p:nvSpPr>
        <p:spPr>
          <a:xfrm>
            <a:off x="4700016" y="2148840"/>
            <a:ext cx="640080" cy="640080"/>
          </a:xfrm>
          <a:prstGeom prst="rect">
            <a:avLst/>
          </a:prstGeom>
          <a:noFill/>
          <a:ln/>
        </p:spPr>
        <p:txBody>
          <a:bodyPr wrap="square" lIns="0" tIns="0" rIns="0" bIns="0" rtlCol="0" anchor="ctr"/>
          <a:lstStyle/>
          <a:p>
            <a:pPr marL="0" indent="0" algn="ctr">
              <a:buNone/>
            </a:pPr>
            <a:r>
              <a:rPr lang="fr-FR" sz="2400" b="1" noProof="0" dirty="0">
                <a:solidFill>
                  <a:schemeClr val="bg1"/>
                </a:solidFill>
                <a:latin typeface="Cambria" pitchFamily="34" charset="0"/>
                <a:ea typeface="Cambria" pitchFamily="34" charset="-122"/>
                <a:cs typeface="Cambria" pitchFamily="34" charset="-120"/>
              </a:rPr>
              <a:t>2</a:t>
            </a:r>
            <a:endParaRPr lang="fr-FR" sz="2400" noProof="0" dirty="0"/>
          </a:p>
        </p:txBody>
      </p:sp>
      <p:sp>
        <p:nvSpPr>
          <p:cNvPr id="12" name="Text 10"/>
          <p:cNvSpPr txBox="1"/>
          <p:nvPr/>
        </p:nvSpPr>
        <p:spPr>
          <a:xfrm>
            <a:off x="4700016" y="2971800"/>
            <a:ext cx="2788920" cy="914400"/>
          </a:xfrm>
          <a:prstGeom prst="rect">
            <a:avLst/>
          </a:prstGeom>
          <a:noFill/>
          <a:ln/>
        </p:spPr>
        <p:txBody>
          <a:bodyPr wrap="square" lIns="0" tIns="0" rIns="0" bIns="0" rtlCol="0" anchor="t"/>
          <a:lstStyle/>
          <a:p>
            <a:pPr marL="0" indent="0">
              <a:spcAft>
                <a:spcPts val="0"/>
              </a:spcAft>
              <a:buNone/>
            </a:pPr>
            <a:r>
              <a:rPr lang="fr-FR" sz="1800" b="1" noProof="0" dirty="0">
                <a:solidFill>
                  <a:schemeClr val="tx1"/>
                </a:solidFill>
              </a:rPr>
              <a:t>Gestes par doigts levés</a:t>
            </a:r>
            <a:endParaRPr lang="fr-FR" sz="1800" noProof="0" dirty="0"/>
          </a:p>
        </p:txBody>
      </p:sp>
      <p:sp>
        <p:nvSpPr>
          <p:cNvPr id="13" name="Text 11"/>
          <p:cNvSpPr txBox="1"/>
          <p:nvPr/>
        </p:nvSpPr>
        <p:spPr>
          <a:xfrm>
            <a:off x="4700016" y="3931920"/>
            <a:ext cx="2788920" cy="2103120"/>
          </a:xfrm>
          <a:prstGeom prst="rect">
            <a:avLst/>
          </a:prstGeom>
          <a:noFill/>
          <a:ln/>
        </p:spPr>
        <p:txBody>
          <a:bodyPr wrap="square" lIns="0" tIns="0" rIns="0" bIns="0" rtlCol="0" anchor="t"/>
          <a:lstStyle/>
          <a:p>
            <a:pPr marL="0" indent="0">
              <a:spcAft>
                <a:spcPts val="400"/>
              </a:spcAft>
              <a:buNone/>
            </a:pPr>
            <a:r>
              <a:rPr lang="fr-FR" sz="1400" b="1" noProof="0" dirty="0">
                <a:solidFill>
                  <a:schemeClr val="tx2"/>
                </a:solidFill>
              </a:rPr>
              <a:t>OK</a:t>
            </a:r>
            <a:r>
              <a:rPr lang="fr-FR" sz="1400" noProof="0" dirty="0">
                <a:solidFill>
                  <a:schemeClr val="tx2"/>
                </a:solidFill>
              </a:rPr>
              <a:t> : pouce et index proches (≤ 0,35 × paume), 3 autres doigts levés.</a:t>
            </a:r>
            <a:endParaRPr lang="fr-FR" sz="1400" noProof="0" dirty="0"/>
          </a:p>
          <a:p>
            <a:pPr marL="0" indent="0">
              <a:spcAft>
                <a:spcPts val="400"/>
              </a:spcAft>
              <a:buNone/>
            </a:pPr>
            <a:r>
              <a:rPr lang="fr-FR" sz="1400" b="1" noProof="0" dirty="0">
                <a:solidFill>
                  <a:schemeClr val="tx2"/>
                </a:solidFill>
              </a:rPr>
              <a:t>PEACE</a:t>
            </a:r>
            <a:r>
              <a:rPr lang="fr-FR" sz="1400" noProof="0" dirty="0">
                <a:solidFill>
                  <a:schemeClr val="tx2"/>
                </a:solidFill>
              </a:rPr>
              <a:t> : index et majeur levés, les 2 autres repliés.</a:t>
            </a:r>
            <a:endParaRPr lang="fr-FR" sz="1400" noProof="0" dirty="0"/>
          </a:p>
          <a:p>
            <a:pPr marL="0" indent="0">
              <a:spcAft>
                <a:spcPts val="400"/>
              </a:spcAft>
              <a:buNone/>
            </a:pPr>
            <a:r>
              <a:rPr lang="fr-FR" sz="1400" b="1" noProof="0" dirty="0">
                <a:solidFill>
                  <a:schemeClr val="tx2"/>
                </a:solidFill>
              </a:rPr>
              <a:t>ROCK</a:t>
            </a:r>
            <a:r>
              <a:rPr lang="fr-FR" sz="1400" noProof="0" dirty="0">
                <a:solidFill>
                  <a:schemeClr val="tx2"/>
                </a:solidFill>
              </a:rPr>
              <a:t> : index et auriculaire levés, les 2 autres repliés.</a:t>
            </a:r>
            <a:endParaRPr lang="fr-FR" sz="1400" noProof="0" dirty="0"/>
          </a:p>
          <a:p>
            <a:pPr marL="0" indent="0">
              <a:spcAft>
                <a:spcPts val="0"/>
              </a:spcAft>
              <a:buNone/>
            </a:pPr>
            <a:r>
              <a:rPr lang="fr-FR" sz="1400" b="1" noProof="0" dirty="0">
                <a:solidFill>
                  <a:schemeClr val="tx2"/>
                </a:solidFill>
              </a:rPr>
              <a:t>MAIN OUVERTE</a:t>
            </a:r>
            <a:r>
              <a:rPr lang="fr-FR" sz="1400" noProof="0" dirty="0">
                <a:solidFill>
                  <a:schemeClr val="tx2"/>
                </a:solidFill>
              </a:rPr>
              <a:t> : 5 doigts levés.</a:t>
            </a:r>
            <a:endParaRPr lang="fr-FR" sz="1400" noProof="0" dirty="0"/>
          </a:p>
        </p:txBody>
      </p:sp>
      <p:sp>
        <p:nvSpPr>
          <p:cNvPr id="14" name="Carte étape 3"/>
          <p:cNvSpPr/>
          <p:nvPr/>
        </p:nvSpPr>
        <p:spPr>
          <a:xfrm>
            <a:off x="8119872" y="1828800"/>
            <a:ext cx="3429000" cy="4389120"/>
          </a:xfrm>
          <a:prstGeom prst="roundRect">
            <a:avLst>
              <a:gd name="adj" fmla="val 3200"/>
            </a:avLst>
          </a:prstGeom>
          <a:solidFill>
            <a:schemeClr val="bg1"/>
          </a:solidFill>
          <a:ln/>
          <a:effectLst>
            <a:outerShdw blurRad="152400" dist="38100" dir="5400000" algn="bl" rotWithShape="0">
              <a:srgbClr val="0F172A">
                <a:alpha val="12000"/>
              </a:srgbClr>
            </a:outerShdw>
          </a:effectLst>
        </p:spPr>
        <p:txBody>
          <a:bodyPr/>
          <a:lstStyle/>
          <a:p>
            <a:endParaRPr lang="fr-FR" noProof="0" dirty="0"/>
          </a:p>
        </p:txBody>
      </p:sp>
      <p:sp>
        <p:nvSpPr>
          <p:cNvPr id="15" name="Pastille 3"/>
          <p:cNvSpPr/>
          <p:nvPr/>
        </p:nvSpPr>
        <p:spPr>
          <a:xfrm>
            <a:off x="8439912" y="2148840"/>
            <a:ext cx="640080" cy="640080"/>
          </a:xfrm>
          <a:prstGeom prst="ellipse">
            <a:avLst/>
          </a:prstGeom>
          <a:solidFill>
            <a:schemeClr val="accent4"/>
          </a:solidFill>
          <a:ln/>
        </p:spPr>
        <p:txBody>
          <a:bodyPr/>
          <a:lstStyle/>
          <a:p>
            <a:endParaRPr lang="fr-FR" noProof="0" dirty="0"/>
          </a:p>
        </p:txBody>
      </p:sp>
      <p:sp>
        <p:nvSpPr>
          <p:cNvPr id="16" name="Numéro 3"/>
          <p:cNvSpPr txBox="1"/>
          <p:nvPr/>
        </p:nvSpPr>
        <p:spPr>
          <a:xfrm>
            <a:off x="8439912" y="2148840"/>
            <a:ext cx="640080" cy="640080"/>
          </a:xfrm>
          <a:prstGeom prst="rect">
            <a:avLst/>
          </a:prstGeom>
          <a:noFill/>
          <a:ln/>
        </p:spPr>
        <p:txBody>
          <a:bodyPr wrap="square" lIns="0" tIns="0" rIns="0" bIns="0" rtlCol="0" anchor="ctr"/>
          <a:lstStyle/>
          <a:p>
            <a:pPr marL="0" indent="0" algn="ctr">
              <a:buNone/>
            </a:pPr>
            <a:r>
              <a:rPr lang="fr-FR" sz="2400" b="1" noProof="0" dirty="0">
                <a:solidFill>
                  <a:schemeClr val="bg1"/>
                </a:solidFill>
                <a:latin typeface="Cambria" pitchFamily="34" charset="0"/>
                <a:ea typeface="Cambria" pitchFamily="34" charset="-122"/>
                <a:cs typeface="Cambria" pitchFamily="34" charset="-120"/>
              </a:rPr>
              <a:t>3</a:t>
            </a:r>
            <a:endParaRPr lang="fr-FR" sz="2400" noProof="0" dirty="0"/>
          </a:p>
        </p:txBody>
      </p:sp>
      <p:sp>
        <p:nvSpPr>
          <p:cNvPr id="17" name="Text 15"/>
          <p:cNvSpPr txBox="1"/>
          <p:nvPr/>
        </p:nvSpPr>
        <p:spPr>
          <a:xfrm>
            <a:off x="8439912" y="2971800"/>
            <a:ext cx="2788920" cy="914400"/>
          </a:xfrm>
          <a:prstGeom prst="rect">
            <a:avLst/>
          </a:prstGeom>
          <a:noFill/>
          <a:ln/>
        </p:spPr>
        <p:txBody>
          <a:bodyPr wrap="square" lIns="0" tIns="0" rIns="0" bIns="0" rtlCol="0" anchor="t"/>
          <a:lstStyle/>
          <a:p>
            <a:pPr marL="0" indent="0">
              <a:spcAft>
                <a:spcPts val="0"/>
              </a:spcAft>
              <a:buNone/>
            </a:pPr>
            <a:r>
              <a:rPr lang="fr-FR" sz="1800" b="1" noProof="0" dirty="0">
                <a:solidFill>
                  <a:schemeClr val="tx1"/>
                </a:solidFill>
              </a:rPr>
              <a:t>Poing &amp; orientation du pouce</a:t>
            </a:r>
            <a:endParaRPr lang="fr-FR" sz="1800" noProof="0" dirty="0"/>
          </a:p>
        </p:txBody>
      </p:sp>
      <p:sp>
        <p:nvSpPr>
          <p:cNvPr id="18" name="Text 16"/>
          <p:cNvSpPr txBox="1"/>
          <p:nvPr/>
        </p:nvSpPr>
        <p:spPr>
          <a:xfrm>
            <a:off x="8439912" y="3931920"/>
            <a:ext cx="2788920" cy="2103120"/>
          </a:xfrm>
          <a:prstGeom prst="rect">
            <a:avLst/>
          </a:prstGeom>
          <a:noFill/>
          <a:ln/>
        </p:spPr>
        <p:txBody>
          <a:bodyPr wrap="square" lIns="0" tIns="0" rIns="0" bIns="0" rtlCol="0" anchor="t"/>
          <a:lstStyle/>
          <a:p>
            <a:pPr marL="0" indent="0">
              <a:spcAft>
                <a:spcPts val="400"/>
              </a:spcAft>
              <a:buNone/>
            </a:pPr>
            <a:r>
              <a:rPr lang="fr-FR" sz="1400" noProof="0" dirty="0">
                <a:solidFill>
                  <a:schemeClr val="tx2"/>
                </a:solidFill>
              </a:rPr>
              <a:t>Les 4 doigts hors pouce sont repliés, puis :</a:t>
            </a:r>
            <a:endParaRPr lang="fr-FR" sz="1400" noProof="0" dirty="0"/>
          </a:p>
          <a:p>
            <a:pPr marL="285750" indent="-285750">
              <a:spcAft>
                <a:spcPts val="400"/>
              </a:spcAft>
              <a:buSzPct val="100000"/>
              <a:buChar char="•"/>
            </a:pPr>
            <a:r>
              <a:rPr lang="fr-FR" sz="1400" b="1" noProof="0" dirty="0">
                <a:solidFill>
                  <a:schemeClr val="tx2"/>
                </a:solidFill>
              </a:rPr>
              <a:t>POING</a:t>
            </a:r>
            <a:r>
              <a:rPr lang="fr-FR" sz="1400" noProof="0" dirty="0">
                <a:solidFill>
                  <a:schemeClr val="tx2"/>
                </a:solidFill>
              </a:rPr>
              <a:t> : pouce proche de la paume (≤ 0,7 × paume).</a:t>
            </a:r>
            <a:endParaRPr lang="fr-FR" sz="1400" noProof="0" dirty="0"/>
          </a:p>
          <a:p>
            <a:pPr marL="285750" indent="-285750">
              <a:spcAft>
                <a:spcPts val="400"/>
              </a:spcAft>
              <a:buSzPct val="100000"/>
              <a:buChar char="•"/>
            </a:pPr>
            <a:r>
              <a:rPr lang="fr-FR" sz="1400" b="1" noProof="0" dirty="0">
                <a:solidFill>
                  <a:schemeClr val="tx2"/>
                </a:solidFill>
              </a:rPr>
              <a:t>POUCE LEVÉ</a:t>
            </a:r>
            <a:r>
              <a:rPr lang="fr-FR" sz="1400" noProof="0" dirty="0">
                <a:solidFill>
                  <a:schemeClr val="tx2"/>
                </a:solidFill>
              </a:rPr>
              <a:t> : pouce au-dessus du poignet (≥ 0,25 × paume).</a:t>
            </a:r>
            <a:endParaRPr lang="fr-FR" sz="1400" noProof="0" dirty="0"/>
          </a:p>
          <a:p>
            <a:pPr marL="285750" indent="-285750">
              <a:spcAft>
                <a:spcPts val="0"/>
              </a:spcAft>
              <a:buSzPct val="100000"/>
              <a:buChar char="•"/>
            </a:pPr>
            <a:r>
              <a:rPr lang="fr-FR" sz="1400" b="1" noProof="0" dirty="0">
                <a:solidFill>
                  <a:schemeClr val="tx2"/>
                </a:solidFill>
              </a:rPr>
              <a:t>POUCE BAISSÉ</a:t>
            </a:r>
            <a:r>
              <a:rPr lang="fr-FR" sz="1400" noProof="0" dirty="0">
                <a:solidFill>
                  <a:schemeClr val="tx2"/>
                </a:solidFill>
              </a:rPr>
              <a:t> : pouce sous le poignet.</a:t>
            </a:r>
            <a:endParaRPr lang="fr-FR" sz="1400" noProof="0" dirty="0"/>
          </a:p>
        </p:txBody>
      </p:sp>
      <p:sp>
        <p:nvSpPr>
          <p:cNvPr id="25" name="Slide Number Placeholder 0"/>
          <p:cNvSpPr>
            <a:spLocks noGrp="1"/>
          </p:cNvSpPr>
          <p:nvPr>
            <p:ph type="sldNum" sz="quarter" idx="4294967295"/>
          </p:nvPr>
        </p:nvSpPr>
        <p:spPr>
          <a:xfrm>
            <a:off x="10881360" y="6382512"/>
            <a:ext cx="667512"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fr-FR" b="0" noProof="0" smtClean="0"/>
              <a:t>4</a:t>
            </a:fld>
            <a:endParaRPr lang="fr-FR" noProof="0" dirty="0"/>
          </a:p>
        </p:txBody>
      </p:sp>
    </p:spTree>
  </p:cSld>
  <p:clrMapOvr>
    <a:masterClrMapping/>
  </p:clrMapOvr>
</p:sld>
</file>

<file path=ppt/theme/theme1.xml><?xml version="1.0" encoding="utf-8"?>
<a:theme xmlns:a="http://schemas.openxmlformats.org/drawingml/2006/main" name="Hand Tracking">
  <a:themeElements>
    <a:clrScheme name="Hand Tracking">
      <a:dk1>
        <a:srgbClr val="0F172A"/>
      </a:dk1>
      <a:lt1>
        <a:srgbClr val="FFFFFF"/>
      </a:lt1>
      <a:dk2>
        <a:srgbClr val="1E293B"/>
      </a:dk2>
      <a:lt2>
        <a:srgbClr val="EEF2F7"/>
      </a:lt2>
      <a:accent1>
        <a:srgbClr val="22C55E"/>
      </a:accent1>
      <a:accent2>
        <a:srgbClr val="EF4444"/>
      </a:accent2>
      <a:accent3>
        <a:srgbClr val="F59E0B"/>
      </a:accent3>
      <a:accent4>
        <a:srgbClr val="15803D"/>
      </a:accent4>
      <a:accent5>
        <a:srgbClr val="64748B"/>
      </a:accent5>
      <a:accent6>
        <a:srgbClr val="CBD5E1"/>
      </a:accent6>
      <a:hlink>
        <a:srgbClr val="38BDF8"/>
      </a:hlink>
      <a:folHlink>
        <a:srgbClr val="94A3B8"/>
      </a:folHlink>
    </a:clrScheme>
    <a:fontScheme name="Hand Track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TotalTime>
  <Words>681</Words>
  <Application>Microsoft Office PowerPoint</Application>
  <PresentationFormat>Grand écran</PresentationFormat>
  <Paragraphs>90</Paragraphs>
  <Slides>8</Slides>
  <Notes>8</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8</vt:i4>
      </vt:variant>
    </vt:vector>
  </HeadingPairs>
  <TitlesOfParts>
    <vt:vector size="12" baseType="lpstr">
      <vt:lpstr>Arial</vt:lpstr>
      <vt:lpstr>Calibri</vt:lpstr>
      <vt:lpstr>Cambria</vt:lpstr>
      <vt:lpstr>Hand Tracking</vt:lpstr>
      <vt:lpstr>Estimation du squelette de la main et détection des doigts</vt:lpstr>
      <vt:lpstr>Présentation de l'application &amp; contexte</vt:lpstr>
      <vt:lpstr>Présentation de l'application &amp; contexte</vt:lpstr>
      <vt:lpstr>Méthodologie : détection MediaPipe Tasks</vt:lpstr>
      <vt:lpstr>Méthodologie : squelette &amp; comptage des doigts</vt:lpstr>
      <vt:lpstr>Effet visuel de proximité entre extrémités</vt:lpstr>
      <vt:lpstr>Démonstration temps réel de la réalisation</vt:lpstr>
      <vt:lpstr>Merci pour votre attention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TP4 — Détection de Squelette de Main &amp; Gestes</dc:title>
  <dc:subject>PptxGenJS Presentation</dc:subject>
  <dc:creator>Équipe projet — IUT de Saint-Dié-des-Vosges</dc:creator>
  <cp:lastModifiedBy>Valentin Hoja</cp:lastModifiedBy>
  <cp:revision>7</cp:revision>
  <dcterms:created xsi:type="dcterms:W3CDTF">2026-10-21T08:50:27Z</dcterms:created>
  <dcterms:modified xsi:type="dcterms:W3CDTF">2026-10-22T12:08:19Z</dcterms:modified>
</cp:coreProperties>
</file>