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A375887-F623-D2FB-DFA2-66976AB20ED1}">
          <p14:sldIdLst>
            <p14:sldId id="256"/>
          </p14:sldIdLst>
        </p14:section>
        <p14:section name="Partie 1 — Présentation" id="{5AF8433D-E5F4-E29A-B6A6-AA894E2AE86C}">
          <p14:sldIdLst>
            <p14:sldId id="257"/>
          </p14:sldIdLst>
        </p14:section>
        <p14:section name="Partie 2 — Méthodologie" id="{ADE9D693-EEBC-85AC-676E-19A348526DD0}">
          <p14:sldIdLst>
            <p14:sldId id="258"/>
            <p14:sldId id="259"/>
            <p14:sldId id="260"/>
          </p14:sldIdLst>
        </p14:section>
        <p14:section name="Partie 3 — Démonstration" id="{87151820-D428-E0C2-2746-1C1CB7D99AB3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142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Soutenance TP4 · IUT de Saint-Dié-des-Vosges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Soutenance TP4 · IUT de Saint-Dié-des-Vosges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82296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4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822960" y="1965960"/>
            <a:ext cx="61264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822960" y="4343400"/>
            <a:ext cx="5943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822960" y="5669280"/>
            <a:ext cx="6126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82296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kern="0" spc="400" noProof="0" dirty="0">
                <a:solidFill>
                  <a:schemeClr val="accent1"/>
                </a:solidFill>
              </a:rPr>
              <a:t>SOUTENANCE MINI-PROJET</a:t>
            </a:r>
            <a:endParaRPr lang="fr-FR" sz="1400" noProof="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822960" y="196596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noProof="0" dirty="0"/>
              <a:t>Estimation du squelette de la main et détection des doigts</a:t>
            </a:r>
            <a:endParaRPr lang="fr-FR" sz="4000" noProof="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822960" y="4343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800" noProof="0" dirty="0">
                <a:solidFill>
                  <a:schemeClr val="accent1"/>
                </a:solidFill>
              </a:rPr>
              <a:t>Réseau de neurones </a:t>
            </a:r>
            <a:r>
              <a:rPr lang="fr-FR" sz="1800" noProof="0" dirty="0" err="1">
                <a:solidFill>
                  <a:schemeClr val="accent1"/>
                </a:solidFill>
              </a:rPr>
              <a:t>MediaPipe</a:t>
            </a:r>
            <a:r>
              <a:rPr lang="fr-FR" sz="1800" noProof="0" dirty="0">
                <a:solidFill>
                  <a:schemeClr val="accent1"/>
                </a:solidFill>
              </a:rPr>
              <a:t> </a:t>
            </a:r>
            <a:r>
              <a:rPr lang="fr-FR" sz="1800" noProof="0" dirty="0" err="1">
                <a:solidFill>
                  <a:schemeClr val="accent1"/>
                </a:solidFill>
              </a:rPr>
              <a:t>Tasks</a:t>
            </a:r>
            <a:r>
              <a:rPr lang="fr-FR" sz="1800" noProof="0" dirty="0">
                <a:solidFill>
                  <a:schemeClr val="accent1"/>
                </a:solidFill>
              </a:rPr>
              <a:t> (Hand </a:t>
            </a:r>
            <a:r>
              <a:rPr lang="fr-FR" sz="1800" noProof="0" dirty="0" err="1">
                <a:solidFill>
                  <a:schemeClr val="accent1"/>
                </a:solidFill>
              </a:rPr>
              <a:t>Landmarker</a:t>
            </a:r>
            <a:r>
              <a:rPr lang="fr-FR" sz="1800" noProof="0" dirty="0">
                <a:solidFill>
                  <a:schemeClr val="accent1"/>
                </a:solidFill>
              </a:rPr>
              <a:t>) • </a:t>
            </a:r>
            <a:r>
              <a:rPr lang="fr-FR" sz="1800" noProof="0" dirty="0" err="1">
                <a:solidFill>
                  <a:schemeClr val="accent1"/>
                </a:solidFill>
              </a:rPr>
              <a:t>OpenCV</a:t>
            </a:r>
            <a:r>
              <a:rPr lang="fr-FR" sz="1800" noProof="0" dirty="0">
                <a:solidFill>
                  <a:schemeClr val="accent1"/>
                </a:solidFill>
              </a:rPr>
              <a:t> &amp; Python</a:t>
            </a:r>
            <a:endParaRPr lang="fr-FR" sz="1800" noProof="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822960" y="5669280"/>
            <a:ext cx="33159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chemeClr val="accent6"/>
                </a:solidFill>
              </a:rPr>
              <a:t>Présenté par </a:t>
            </a:r>
            <a:r>
              <a:rPr lang="fr-FR" noProof="0" dirty="0"/>
              <a:t>HOJA Valentin &amp; HOFF Rafaël</a:t>
            </a:r>
            <a:r>
              <a:rPr lang="fr-FR" sz="1400" noProof="0" dirty="0">
                <a:solidFill>
                  <a:schemeClr val="accent6"/>
                </a:solidFill>
              </a:rPr>
              <a:t> | </a:t>
            </a:r>
            <a:endParaRPr lang="fr-FR" sz="1400" noProof="0" dirty="0"/>
          </a:p>
        </p:txBody>
      </p:sp>
      <p:pic>
        <p:nvPicPr>
          <p:cNvPr id="6" name="Illustration main squelette" descr="Squelette de main à 21 repères avec effet de proximité entre l'index et le majeu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85800"/>
            <a:ext cx="4389120" cy="5486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4B3B3F1-866E-80D9-489C-74F39C539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863" y="5519384"/>
            <a:ext cx="3683189" cy="698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chemeClr val="accent4"/>
                </a:solidFill>
              </a:rPr>
              <a:t>PARTIE 1 — </a:t>
            </a:r>
            <a:r>
              <a:rPr lang="fr-FR" noProof="0" dirty="0"/>
              <a:t>PRÉSENTATION &amp; CONTEXTE</a:t>
            </a:r>
            <a:endParaRPr lang="fr-FR" sz="1200" noProof="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600" b="1" noProof="0" dirty="0">
                <a:solidFill>
                  <a:schemeClr val="tx1"/>
                </a:solidFill>
              </a:rPr>
              <a:t>Présentation de l'application &amp; contexte</a:t>
            </a:r>
            <a:endParaRPr lang="fr-FR" sz="3600" noProof="0" dirty="0"/>
          </a:p>
        </p:txBody>
      </p:sp>
      <p:sp>
        <p:nvSpPr>
          <p:cNvPr id="4" name="Carte Contexte du projet"/>
          <p:cNvSpPr/>
          <p:nvPr/>
        </p:nvSpPr>
        <p:spPr>
          <a:xfrm>
            <a:off x="640080" y="1828800"/>
            <a:ext cx="6675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Pastille Contexte du projet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cône Contexte du proje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chemeClr val="tx1"/>
                </a:solidFill>
              </a:rPr>
              <a:t>Contexte du projet</a:t>
            </a:r>
            <a:endParaRPr lang="fr-FR" sz="20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6060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tx2"/>
                </a:solidFill>
              </a:rPr>
              <a:t>Application Python qui capture le flux de la webcam en temps réel, analyse la structure anatomique des mains, compte les doigts levés et génère un effet visuel de proximité.</a:t>
            </a:r>
            <a:endParaRPr lang="fr-FR" sz="1600" noProof="0" dirty="0"/>
          </a:p>
        </p:txBody>
      </p:sp>
      <p:sp>
        <p:nvSpPr>
          <p:cNvPr id="9" name="Carte Approche technique"/>
          <p:cNvSpPr/>
          <p:nvPr/>
        </p:nvSpPr>
        <p:spPr>
          <a:xfrm>
            <a:off x="640080" y="4206240"/>
            <a:ext cx="66751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Pastille Approche technique"/>
          <p:cNvSpPr/>
          <p:nvPr/>
        </p:nvSpPr>
        <p:spPr>
          <a:xfrm>
            <a:off x="960120" y="45262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cône Approche techniqu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46863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44805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chemeClr val="tx1"/>
                </a:solidFill>
              </a:rPr>
              <a:t>Approche technique</a:t>
            </a:r>
            <a:endParaRPr lang="fr-FR" sz="2000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4983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tx2"/>
                </a:solidFill>
              </a:rPr>
              <a:t>API </a:t>
            </a:r>
            <a:r>
              <a:rPr lang="fr-FR" sz="1600" noProof="0" dirty="0" err="1">
                <a:solidFill>
                  <a:schemeClr val="tx2"/>
                </a:solidFill>
              </a:rPr>
              <a:t>MediaPipe</a:t>
            </a:r>
            <a:r>
              <a:rPr lang="fr-FR" sz="1600" noProof="0" dirty="0">
                <a:solidFill>
                  <a:schemeClr val="tx2"/>
                </a:solidFill>
              </a:rPr>
              <a:t> </a:t>
            </a:r>
            <a:r>
              <a:rPr lang="fr-FR" sz="1600" noProof="0" dirty="0" err="1">
                <a:solidFill>
                  <a:schemeClr val="tx2"/>
                </a:solidFill>
              </a:rPr>
              <a:t>Tasks</a:t>
            </a:r>
            <a:r>
              <a:rPr lang="fr-FR" sz="1600" noProof="0" dirty="0">
                <a:solidFill>
                  <a:schemeClr val="tx2"/>
                </a:solidFill>
              </a:rPr>
              <a:t> (Hand </a:t>
            </a:r>
            <a:r>
              <a:rPr lang="fr-FR" sz="1600" noProof="0" dirty="0" err="1">
                <a:solidFill>
                  <a:schemeClr val="tx2"/>
                </a:solidFill>
              </a:rPr>
              <a:t>Landmarker</a:t>
            </a:r>
            <a:r>
              <a:rPr lang="fr-FR" sz="1600" noProof="0" dirty="0">
                <a:solidFill>
                  <a:schemeClr val="tx2"/>
                </a:solidFill>
              </a:rPr>
              <a:t>) : un réseau de neurones pré-entraîné (</a:t>
            </a:r>
            <a:r>
              <a:rPr lang="fr-FR" sz="1600" noProof="0" dirty="0" err="1">
                <a:solidFill>
                  <a:schemeClr val="tx2"/>
                </a:solidFill>
              </a:rPr>
              <a:t>hand_landmarker.task</a:t>
            </a:r>
            <a:r>
              <a:rPr lang="fr-FR" sz="1600" noProof="0" dirty="0">
                <a:solidFill>
                  <a:schemeClr val="tx2"/>
                </a:solidFill>
              </a:rPr>
              <a:t>) prédit les repères de la main. </a:t>
            </a:r>
            <a:r>
              <a:rPr lang="fr-FR" sz="1600" noProof="0" dirty="0" err="1">
                <a:solidFill>
                  <a:schemeClr val="tx2"/>
                </a:solidFill>
              </a:rPr>
              <a:t>OpenCV</a:t>
            </a:r>
            <a:r>
              <a:rPr lang="fr-FR" sz="1600" noProof="0" dirty="0">
                <a:solidFill>
                  <a:schemeClr val="tx2"/>
                </a:solidFill>
              </a:rPr>
              <a:t> gère la capture et le dessin, </a:t>
            </a:r>
            <a:r>
              <a:rPr lang="fr-FR" sz="1600" noProof="0" dirty="0" err="1">
                <a:solidFill>
                  <a:schemeClr val="tx2"/>
                </a:solidFill>
              </a:rPr>
              <a:t>NumPy</a:t>
            </a:r>
            <a:r>
              <a:rPr lang="fr-FR" sz="1600" noProof="0" dirty="0">
                <a:solidFill>
                  <a:schemeClr val="tx2"/>
                </a:solidFill>
              </a:rPr>
              <a:t> les calculs.</a:t>
            </a:r>
            <a:endParaRPr lang="fr-FR" sz="1600" noProof="0" dirty="0"/>
          </a:p>
        </p:txBody>
      </p:sp>
      <p:sp>
        <p:nvSpPr>
          <p:cNvPr id="14" name="Carte objectifs"/>
          <p:cNvSpPr/>
          <p:nvPr/>
        </p:nvSpPr>
        <p:spPr>
          <a:xfrm>
            <a:off x="7589520" y="1828800"/>
            <a:ext cx="3959352" cy="4389120"/>
          </a:xfrm>
          <a:prstGeom prst="roundRect">
            <a:avLst>
              <a:gd name="adj" fmla="val 2771"/>
            </a:avLst>
          </a:prstGeom>
          <a:solidFill>
            <a:schemeClr val="tx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790956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chemeClr val="bg1"/>
                </a:solidFill>
              </a:rPr>
              <a:t>Objectifs clés</a:t>
            </a:r>
            <a:endParaRPr lang="fr-FR" sz="2200" noProof="0" dirty="0"/>
          </a:p>
        </p:txBody>
      </p:sp>
      <p:sp>
        <p:nvSpPr>
          <p:cNvPr id="16" name="Pastille objectif 1"/>
          <p:cNvSpPr/>
          <p:nvPr/>
        </p:nvSpPr>
        <p:spPr>
          <a:xfrm>
            <a:off x="790956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cône objectif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017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86800" y="2788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 err="1">
                <a:solidFill>
                  <a:schemeClr val="bg1"/>
                </a:solidFill>
              </a:rPr>
              <a:t>Tracking</a:t>
            </a:r>
            <a:r>
              <a:rPr lang="fr-FR" sz="1600" noProof="0" dirty="0">
                <a:solidFill>
                  <a:schemeClr val="bg1"/>
                </a:solidFill>
              </a:rPr>
              <a:t> temps réel fluide, avec retour miroir</a:t>
            </a:r>
            <a:endParaRPr lang="fr-FR" sz="1600" noProof="0" dirty="0"/>
          </a:p>
        </p:txBody>
      </p:sp>
      <p:sp>
        <p:nvSpPr>
          <p:cNvPr id="19" name="Pastille objectif 2"/>
          <p:cNvSpPr/>
          <p:nvPr/>
        </p:nvSpPr>
        <p:spPr>
          <a:xfrm>
            <a:off x="790956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cône objectif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114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3886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bg1"/>
                </a:solidFill>
              </a:rPr>
              <a:t>Détection simultanée de 2 mains</a:t>
            </a:r>
            <a:endParaRPr lang="fr-FR" sz="1600" noProof="0" dirty="0"/>
          </a:p>
        </p:txBody>
      </p:sp>
      <p:sp>
        <p:nvSpPr>
          <p:cNvPr id="22" name="Pastille objectif 3"/>
          <p:cNvSpPr/>
          <p:nvPr/>
        </p:nvSpPr>
        <p:spPr>
          <a:xfrm>
            <a:off x="7909560" y="5074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cône objectif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52120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686800" y="4983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bg1"/>
                </a:solidFill>
              </a:rPr>
              <a:t>Squelette à 21 repères, comptage des doigts et effet de proximité</a:t>
            </a:r>
            <a:endParaRPr lang="fr-FR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fr-FR" b="0" noProof="0" smtClean="0"/>
              <a:t>2</a:t>
            </a:fld>
            <a:endParaRPr lang="fr-F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chemeClr val="accent4"/>
                </a:solidFill>
              </a:rPr>
              <a:t>PARTIE 2 — MÉTHODOLOGIE</a:t>
            </a:r>
            <a:endParaRPr lang="fr-FR" sz="1200" noProof="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600" b="1" noProof="0" dirty="0">
                <a:solidFill>
                  <a:schemeClr val="tx1"/>
                </a:solidFill>
              </a:rPr>
              <a:t>Méthodologie : détection </a:t>
            </a:r>
            <a:r>
              <a:rPr lang="fr-FR" sz="3600" b="1" noProof="0" dirty="0" err="1">
                <a:solidFill>
                  <a:schemeClr val="tx1"/>
                </a:solidFill>
              </a:rPr>
              <a:t>MediaPipe</a:t>
            </a:r>
            <a:r>
              <a:rPr lang="fr-FR" sz="3600" b="1" noProof="0" dirty="0">
                <a:solidFill>
                  <a:schemeClr val="tx1"/>
                </a:solidFill>
              </a:rPr>
              <a:t> </a:t>
            </a:r>
            <a:r>
              <a:rPr lang="fr-FR" sz="3600" b="1" noProof="0" dirty="0" err="1">
                <a:solidFill>
                  <a:schemeClr val="tx1"/>
                </a:solidFill>
              </a:rPr>
              <a:t>Tasks</a:t>
            </a:r>
            <a:endParaRPr lang="fr-FR" sz="3600" noProof="0" dirty="0"/>
          </a:p>
        </p:txBody>
      </p:sp>
      <p:sp>
        <p:nvSpPr>
          <p:cNvPr id="4" name="Carte étape 1"/>
          <p:cNvSpPr/>
          <p:nvPr/>
        </p:nvSpPr>
        <p:spPr>
          <a:xfrm>
            <a:off x="640080" y="1828800"/>
            <a:ext cx="3429000" cy="438912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Pastille 1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Numéro 1"/>
          <p:cNvSpPr txBox="1"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FR" sz="24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Initialisation du Hand </a:t>
            </a:r>
            <a:r>
              <a:rPr lang="fr-FR" sz="1800" b="1" noProof="0" dirty="0" err="1">
                <a:solidFill>
                  <a:schemeClr val="tx1"/>
                </a:solidFill>
              </a:rPr>
              <a:t>Landmarker</a:t>
            </a:r>
            <a:endParaRPr lang="fr-FR" sz="18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3192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noProof="0" dirty="0">
                <a:solidFill>
                  <a:schemeClr val="tx2"/>
                </a:solidFill>
              </a:rPr>
              <a:t>Chargement du modèle </a:t>
            </a:r>
            <a:r>
              <a:rPr lang="fr-FR" sz="1500" noProof="0" dirty="0" err="1">
                <a:solidFill>
                  <a:schemeClr val="tx2"/>
                </a:solidFill>
              </a:rPr>
              <a:t>hand_landmarker.task</a:t>
            </a:r>
            <a:r>
              <a:rPr lang="fr-FR" sz="1500" noProof="0" dirty="0">
                <a:solidFill>
                  <a:schemeClr val="tx2"/>
                </a:solidFill>
              </a:rPr>
              <a:t> via </a:t>
            </a:r>
            <a:r>
              <a:rPr lang="fr-FR" sz="1500" noProof="0" dirty="0" err="1">
                <a:solidFill>
                  <a:schemeClr val="tx2"/>
                </a:solidFill>
              </a:rPr>
              <a:t>BaseOptions</a:t>
            </a:r>
            <a:r>
              <a:rPr lang="fr-FR" sz="1500" noProof="0" dirty="0">
                <a:solidFill>
                  <a:schemeClr val="tx2"/>
                </a:solidFill>
              </a:rPr>
              <a:t>. Paramètres : 2 mains maximum, confiance de détection ≥ 0,7 et confiance de suivi ≥ 0,5.</a:t>
            </a:r>
            <a:endParaRPr lang="fr-FR" sz="1500" noProof="0" dirty="0"/>
          </a:p>
        </p:txBody>
      </p:sp>
      <p:sp>
        <p:nvSpPr>
          <p:cNvPr id="9" name="Carte étape 2"/>
          <p:cNvSpPr/>
          <p:nvPr/>
        </p:nvSpPr>
        <p:spPr>
          <a:xfrm>
            <a:off x="4379976" y="1828800"/>
            <a:ext cx="3429000" cy="438912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Pastille 2"/>
          <p:cNvSpPr/>
          <p:nvPr/>
        </p:nvSpPr>
        <p:spPr>
          <a:xfrm>
            <a:off x="4700016" y="21488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Numéro 2"/>
          <p:cNvSpPr txBox="1"/>
          <p:nvPr/>
        </p:nvSpPr>
        <p:spPr>
          <a:xfrm>
            <a:off x="47000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FR" sz="2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971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Acquisition &amp; préparation du flux</a:t>
            </a:r>
            <a:endParaRPr lang="fr-FR" sz="18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93192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noProof="0" dirty="0">
                <a:solidFill>
                  <a:schemeClr val="tx2"/>
                </a:solidFill>
              </a:rPr>
              <a:t>Capture webcam avec </a:t>
            </a:r>
            <a:r>
              <a:rPr lang="fr-FR" sz="1500" noProof="0" dirty="0" err="1">
                <a:solidFill>
                  <a:schemeClr val="tx2"/>
                </a:solidFill>
              </a:rPr>
              <a:t>OpenCV</a:t>
            </a:r>
            <a:r>
              <a:rPr lang="fr-FR" sz="1500" noProof="0" dirty="0">
                <a:solidFill>
                  <a:schemeClr val="tx2"/>
                </a:solidFill>
              </a:rPr>
              <a:t> et retour miroir (cv2.flip). Conversion BGR → RGB, puis encapsulation dans </a:t>
            </a:r>
            <a:r>
              <a:rPr lang="fr-FR" sz="1500" noProof="0" dirty="0" err="1">
                <a:solidFill>
                  <a:schemeClr val="tx2"/>
                </a:solidFill>
              </a:rPr>
              <a:t>mp.Image</a:t>
            </a:r>
            <a:r>
              <a:rPr lang="fr-FR" sz="1500" noProof="0" dirty="0">
                <a:solidFill>
                  <a:schemeClr val="tx2"/>
                </a:solidFill>
              </a:rPr>
              <a:t> avant l'inférence du réseau de neurones.</a:t>
            </a:r>
            <a:endParaRPr lang="fr-FR" sz="1500" noProof="0" dirty="0"/>
          </a:p>
        </p:txBody>
      </p:sp>
      <p:sp>
        <p:nvSpPr>
          <p:cNvPr id="14" name="Carte étape 3"/>
          <p:cNvSpPr/>
          <p:nvPr/>
        </p:nvSpPr>
        <p:spPr>
          <a:xfrm>
            <a:off x="8119872" y="1828800"/>
            <a:ext cx="3429000" cy="438912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Pastille 3"/>
          <p:cNvSpPr/>
          <p:nvPr/>
        </p:nvSpPr>
        <p:spPr>
          <a:xfrm>
            <a:off x="8439912" y="21488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Numéro 3"/>
          <p:cNvSpPr txBox="1"/>
          <p:nvPr/>
        </p:nvSpPr>
        <p:spPr>
          <a:xfrm>
            <a:off x="843991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FR" sz="24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2971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Sortie du réseau : 21 repères par main</a:t>
            </a:r>
            <a:endParaRPr lang="fr-FR" sz="18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393192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fr-FR" sz="1500" noProof="0" dirty="0">
                <a:solidFill>
                  <a:schemeClr val="tx2"/>
                </a:solidFill>
              </a:rPr>
              <a:t>Coordonnées normalisées (x, y) de chaque repère, converties en pixels selon la largeur et la hauteur de l'image.</a:t>
            </a:r>
            <a:endParaRPr lang="fr-F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fr-FR" sz="1500" noProof="0" dirty="0">
                <a:solidFill>
                  <a:schemeClr val="tx2"/>
                </a:solidFill>
              </a:rPr>
              <a:t>Latéralité (Left / Right) fournie pour chaque main détectée.</a:t>
            </a:r>
            <a:endParaRPr lang="fr-FR" sz="15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fr-FR" b="0" noProof="0" smtClean="0"/>
              <a:t>3</a:t>
            </a:fld>
            <a:endParaRPr lang="fr-F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chemeClr val="accent4"/>
                </a:solidFill>
              </a:rPr>
              <a:t>PARTIE 2 — MÉTHODOLOGIE</a:t>
            </a:r>
            <a:endParaRPr lang="fr-FR" sz="1200" noProof="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600" b="1" noProof="0" dirty="0">
                <a:solidFill>
                  <a:schemeClr val="tx1"/>
                </a:solidFill>
              </a:rPr>
              <a:t>Méthodologie : squelette &amp; comptage des doigts</a:t>
            </a:r>
            <a:endParaRPr lang="fr-FR" sz="3600" noProof="0" dirty="0"/>
          </a:p>
        </p:txBody>
      </p:sp>
      <p:sp>
        <p:nvSpPr>
          <p:cNvPr id="4" name="Carte étape 1"/>
          <p:cNvSpPr/>
          <p:nvPr/>
        </p:nvSpPr>
        <p:spPr>
          <a:xfrm>
            <a:off x="640080" y="1828800"/>
            <a:ext cx="7040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Pastille 1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Numéro 1"/>
          <p:cNvSpPr txBox="1"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FR" sz="2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3852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Tracé du squelette</a:t>
            </a:r>
            <a:endParaRPr lang="fr-FR" sz="18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04288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noProof="0" dirty="0">
                <a:solidFill>
                  <a:schemeClr val="tx2"/>
                </a:solidFill>
              </a:rPr>
              <a:t>Liste de connexions (HAND_CONNECTIONS) reliant les 21 repères : pouce, index, majeur, annulaire, auriculaire et paume. Lignes vertes (cv2.line) et points rouges (cv2.circle).</a:t>
            </a:r>
            <a:endParaRPr lang="fr-FR" sz="1400" noProof="0" dirty="0"/>
          </a:p>
        </p:txBody>
      </p:sp>
      <p:sp>
        <p:nvSpPr>
          <p:cNvPr id="9" name="Carte étape 2"/>
          <p:cNvSpPr/>
          <p:nvPr/>
        </p:nvSpPr>
        <p:spPr>
          <a:xfrm>
            <a:off x="640080" y="3383280"/>
            <a:ext cx="7040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Pastille 2"/>
          <p:cNvSpPr/>
          <p:nvPr/>
        </p:nvSpPr>
        <p:spPr>
          <a:xfrm>
            <a:off x="914400" y="3749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Numéro 2"/>
          <p:cNvSpPr txBox="1"/>
          <p:nvPr/>
        </p:nvSpPr>
        <p:spPr>
          <a:xfrm>
            <a:off x="9144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FR" sz="20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9300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Comptage du pouce</a:t>
            </a:r>
            <a:endParaRPr lang="fr-FR" sz="18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58768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noProof="0" dirty="0">
                <a:solidFill>
                  <a:schemeClr val="tx2"/>
                </a:solidFill>
              </a:rPr>
              <a:t>Comparaison sur l'axe X entre la pointe (repère 4) et l'articulation (repère 3), adaptée à la latéralité Left / Right et compensée par l'effet miroir.</a:t>
            </a:r>
            <a:endParaRPr lang="fr-FR" sz="1400" noProof="0" dirty="0"/>
          </a:p>
        </p:txBody>
      </p:sp>
      <p:sp>
        <p:nvSpPr>
          <p:cNvPr id="14" name="Carte étape 3"/>
          <p:cNvSpPr/>
          <p:nvPr/>
        </p:nvSpPr>
        <p:spPr>
          <a:xfrm>
            <a:off x="640080" y="4937760"/>
            <a:ext cx="70408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Pastille 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Numéro 3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FR" sz="20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4748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Comptage des autres doigts</a:t>
            </a:r>
            <a:endParaRPr lang="fr-FR" sz="18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413248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noProof="0" dirty="0">
                <a:solidFill>
                  <a:schemeClr val="tx2"/>
                </a:solidFill>
              </a:rPr>
              <a:t>Comparaison sur l'axe Y : un doigt est levé si sa pointe (8, 12, 16, 20) est plus haute que son articulation inférieure (tip − 2). Total affiché en direct.</a:t>
            </a:r>
            <a:endParaRPr lang="fr-FR" sz="1400" noProof="0" dirty="0"/>
          </a:p>
        </p:txBody>
      </p:sp>
      <p:sp>
        <p:nvSpPr>
          <p:cNvPr id="19" name="Carte illustration"/>
          <p:cNvSpPr/>
          <p:nvPr/>
        </p:nvSpPr>
        <p:spPr>
          <a:xfrm>
            <a:off x="7955280" y="1828800"/>
            <a:ext cx="3593592" cy="4389120"/>
          </a:xfrm>
          <a:prstGeom prst="roundRect">
            <a:avLst>
              <a:gd name="adj" fmla="val 3053"/>
            </a:avLst>
          </a:prstGeom>
          <a:solidFill>
            <a:schemeClr val="tx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llustration des 21 repères" descr="Squelette de main avec les 21 repères numérotés de 0 à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2103120"/>
            <a:ext cx="310896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fr-FR" b="0" noProof="0" smtClean="0"/>
              <a:t>4</a:t>
            </a:fld>
            <a:endParaRPr lang="fr-F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chemeClr val="accent4"/>
                </a:solidFill>
              </a:rPr>
              <a:t>PARTIE 2 — MÉTHODOLOGIE</a:t>
            </a:r>
            <a:endParaRPr lang="fr-FR" sz="1200" noProof="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600" b="1" noProof="0" dirty="0">
                <a:solidFill>
                  <a:schemeClr val="tx1"/>
                </a:solidFill>
              </a:rPr>
              <a:t>Effet visuel de proximité entre extrémités</a:t>
            </a:r>
            <a:endParaRPr lang="fr-FR" sz="3600" noProof="0" dirty="0"/>
          </a:p>
        </p:txBody>
      </p:sp>
      <p:sp>
        <p:nvSpPr>
          <p:cNvPr id="4" name="Carte comparaison"/>
          <p:cNvSpPr/>
          <p:nvPr/>
        </p:nvSpPr>
        <p:spPr>
          <a:xfrm>
            <a:off x="640080" y="182880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Pastille 1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Numéro 1"/>
          <p:cNvSpPr txBox="1"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FR" sz="24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Comparaison des bouts de doigts</a:t>
            </a:r>
            <a:endParaRPr lang="fr-FR" sz="18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noProof="0" dirty="0">
                <a:solidFill>
                  <a:schemeClr val="tx2"/>
                </a:solidFill>
              </a:rPr>
              <a:t>Les 5 extrémités (repères 4, 8, 12, 16, 20) sont comparées deux à deux. Distance euclidienne entre les deux sommets, en pixels (</a:t>
            </a:r>
            <a:r>
              <a:rPr lang="fr-FR" sz="1500" noProof="0" dirty="0" err="1">
                <a:solidFill>
                  <a:schemeClr val="tx2"/>
                </a:solidFill>
              </a:rPr>
              <a:t>math.hypot</a:t>
            </a:r>
            <a:r>
              <a:rPr lang="fr-FR" sz="1500" noProof="0" dirty="0">
                <a:solidFill>
                  <a:schemeClr val="tx2"/>
                </a:solidFill>
              </a:rPr>
              <a:t>).</a:t>
            </a:r>
            <a:endParaRPr lang="fr-FR" sz="1500" noProof="0" dirty="0"/>
          </a:p>
        </p:txBody>
      </p:sp>
      <p:sp>
        <p:nvSpPr>
          <p:cNvPr id="9" name="Pastille formule"/>
          <p:cNvSpPr/>
          <p:nvPr/>
        </p:nvSpPr>
        <p:spPr>
          <a:xfrm>
            <a:off x="914400" y="4069080"/>
            <a:ext cx="484632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69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√(dx² + </a:t>
            </a:r>
            <a:r>
              <a:rPr lang="fr-FR" sz="2200" b="1" noProof="0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</a:t>
            </a:r>
            <a:r>
              <a:rPr lang="fr-FR" sz="22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²)</a:t>
            </a:r>
            <a:endParaRPr lang="fr-FR" sz="2200" noProof="0" dirty="0"/>
          </a:p>
        </p:txBody>
      </p:sp>
      <p:sp>
        <p:nvSpPr>
          <p:cNvPr id="11" name="Stat 65 px"/>
          <p:cNvSpPr/>
          <p:nvPr/>
        </p:nvSpPr>
        <p:spPr>
          <a:xfrm>
            <a:off x="914400" y="484632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px</a:t>
            </a:r>
            <a:endParaRPr lang="fr-FR" sz="32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440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noProof="0" dirty="0">
                <a:solidFill>
                  <a:schemeClr val="tx2"/>
                </a:solidFill>
              </a:rPr>
              <a:t>seuil de déclenchement</a:t>
            </a:r>
            <a:endParaRPr lang="fr-FR" sz="1300" noProof="0" dirty="0"/>
          </a:p>
        </p:txBody>
      </p:sp>
      <p:sp>
        <p:nvSpPr>
          <p:cNvPr id="14" name="Stat 10"/>
          <p:cNvSpPr/>
          <p:nvPr/>
        </p:nvSpPr>
        <p:spPr>
          <a:xfrm>
            <a:off x="3429000" y="484632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fr-FR" sz="32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5440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noProof="0" dirty="0">
                <a:solidFill>
                  <a:schemeClr val="tx2"/>
                </a:solidFill>
              </a:rPr>
              <a:t>paires de doigts comparées</a:t>
            </a:r>
            <a:endParaRPr lang="fr-FR" sz="1300" noProof="0" dirty="0"/>
          </a:p>
        </p:txBody>
      </p:sp>
      <p:sp>
        <p:nvSpPr>
          <p:cNvPr id="17" name="Carte trait dynamique"/>
          <p:cNvSpPr/>
          <p:nvPr/>
        </p:nvSpPr>
        <p:spPr>
          <a:xfrm>
            <a:off x="6309360" y="1828800"/>
            <a:ext cx="5239512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Pastille 2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Numéro 2"/>
          <p:cNvSpPr txBox="1"/>
          <p:nvPr/>
        </p:nvSpPr>
        <p:spPr>
          <a:xfrm>
            <a:off x="6583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FR" sz="240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Trait &amp; point d'impact dynamiques</a:t>
            </a:r>
            <a:endParaRPr lang="fr-FR" sz="18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4688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noProof="0" dirty="0">
                <a:solidFill>
                  <a:schemeClr val="tx2"/>
                </a:solidFill>
              </a:rPr>
              <a:t>Interpolation linéaire (</a:t>
            </a:r>
            <a:r>
              <a:rPr lang="fr-FR" sz="1400" noProof="0" dirty="0" err="1">
                <a:solidFill>
                  <a:schemeClr val="tx2"/>
                </a:solidFill>
              </a:rPr>
              <a:t>np.interp</a:t>
            </a:r>
            <a:r>
              <a:rPr lang="fr-FR" sz="1400" noProof="0" dirty="0">
                <a:solidFill>
                  <a:schemeClr val="tx2"/>
                </a:solidFill>
              </a:rPr>
              <a:t>) de l'épaisseur du trait (8 → 2 px) et du rayon du point d'impact (16 → 4 px).</a:t>
            </a:r>
            <a:endParaRPr lang="fr-FR" sz="1400" noProof="0" dirty="0"/>
          </a:p>
        </p:txBody>
      </p:sp>
      <p:sp>
        <p:nvSpPr>
          <p:cNvPr id="22" name="Carte couleur"/>
          <p:cNvSpPr/>
          <p:nvPr/>
        </p:nvSpPr>
        <p:spPr>
          <a:xfrm>
            <a:off x="6309360" y="3749040"/>
            <a:ext cx="5239512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Pastille 3"/>
          <p:cNvSpPr/>
          <p:nvPr/>
        </p:nvSpPr>
        <p:spPr>
          <a:xfrm>
            <a:off x="6583680" y="3977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Numéro 3"/>
          <p:cNvSpPr txBox="1"/>
          <p:nvPr/>
        </p:nvSpPr>
        <p:spPr>
          <a:xfrm>
            <a:off x="65836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FR" sz="20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chemeClr val="tx1"/>
                </a:solidFill>
              </a:rPr>
              <a:t>Transition de couleur BGR</a:t>
            </a:r>
            <a:endParaRPr lang="fr-FR" sz="180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663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400" noProof="0" dirty="0">
                <a:solidFill>
                  <a:schemeClr val="tx2"/>
                </a:solidFill>
              </a:rPr>
              <a:t>Couleur calculée selon le ratio distance / seuil : du vert (éloignés) au rouge (contact).</a:t>
            </a:r>
            <a:endParaRPr lang="fr-FR" sz="1400" noProof="0" dirty="0"/>
          </a:p>
          <a:p>
            <a:pPr marL="342900" indent="-342900">
              <a:buSzPct val="100000"/>
              <a:buChar char="•"/>
            </a:pPr>
            <a:r>
              <a:rPr lang="fr-FR" sz="1400" noProof="0" dirty="0">
                <a:solidFill>
                  <a:schemeClr val="tx2"/>
                </a:solidFill>
              </a:rPr>
              <a:t>Trait entre les deux bouts de doigts et point central cerclé de blanc.</a:t>
            </a:r>
            <a:endParaRPr lang="fr-FR" sz="1400" noProof="0" dirty="0"/>
          </a:p>
        </p:txBody>
      </p:sp>
      <p:pic>
        <p:nvPicPr>
          <p:cNvPr id="27" name="Dégradé vert vers rou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806440"/>
            <a:ext cx="4754880" cy="155448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583680" y="5961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chemeClr val="accent5"/>
                </a:solidFill>
              </a:rPr>
              <a:t>Éloignés</a:t>
            </a:r>
            <a:endParaRPr lang="fr-FR" sz="1100" noProof="0" dirty="0"/>
          </a:p>
        </p:txBody>
      </p:sp>
      <p:sp>
        <p:nvSpPr>
          <p:cNvPr id="29" name="Text 26"/>
          <p:cNvSpPr txBox="1"/>
          <p:nvPr/>
        </p:nvSpPr>
        <p:spPr>
          <a:xfrm>
            <a:off x="9509760" y="5961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chemeClr val="accent5"/>
                </a:solidFill>
              </a:rPr>
              <a:t>Contact</a:t>
            </a:r>
            <a:endParaRPr lang="fr-FR" sz="1100" noProof="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fr-FR" b="0" noProof="0" smtClean="0"/>
              <a:t>5</a:t>
            </a:fld>
            <a:endParaRPr lang="fr-F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chemeClr val="accent1"/>
                </a:solidFill>
              </a:rPr>
              <a:t>PARTIE 3 — DÉMONSTRATION</a:t>
            </a:r>
            <a:endParaRPr lang="fr-FR" sz="1200" noProof="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600" b="1" noProof="0" dirty="0">
                <a:solidFill>
                  <a:schemeClr val="bg1"/>
                </a:solidFill>
              </a:rPr>
              <a:t>Démonstration temps réel de la réalisation</a:t>
            </a:r>
            <a:endParaRPr lang="fr-FR" sz="3600" noProof="0" dirty="0"/>
          </a:p>
        </p:txBody>
      </p:sp>
      <p:sp>
        <p:nvSpPr>
          <p:cNvPr id="4" name="Carte démo 1"/>
          <p:cNvSpPr/>
          <p:nvPr/>
        </p:nvSpPr>
        <p:spPr>
          <a:xfrm>
            <a:off x="640080" y="1828800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Pastille 1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Numéro 1"/>
          <p:cNvSpPr txBox="1"/>
          <p:nvPr/>
        </p:nvSpPr>
        <p:spPr>
          <a:xfrm>
            <a:off x="9601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FR" sz="24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194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chemeClr val="bg1"/>
                </a:solidFill>
              </a:rPr>
              <a:t>Détection &amp; squelette</a:t>
            </a:r>
            <a:endParaRPr lang="fr-FR" sz="22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accent6"/>
                </a:solidFill>
              </a:rPr>
              <a:t>Lancement du script : la webcam s'ouvre en miroir et le squelette à 21 repères se dessine sur la main.</a:t>
            </a:r>
            <a:endParaRPr lang="fr-FR" sz="1600" noProof="0" dirty="0"/>
          </a:p>
        </p:txBody>
      </p:sp>
      <p:sp>
        <p:nvSpPr>
          <p:cNvPr id="9" name="Carte démo 2"/>
          <p:cNvSpPr/>
          <p:nvPr/>
        </p:nvSpPr>
        <p:spPr>
          <a:xfrm>
            <a:off x="6245352" y="1828800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Pastille 2"/>
          <p:cNvSpPr/>
          <p:nvPr/>
        </p:nvSpPr>
        <p:spPr>
          <a:xfrm>
            <a:off x="6565392" y="2194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Numéro 2"/>
          <p:cNvSpPr txBox="1"/>
          <p:nvPr/>
        </p:nvSpPr>
        <p:spPr>
          <a:xfrm>
            <a:off x="656539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FR" sz="2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194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chemeClr val="bg1"/>
                </a:solidFill>
              </a:rPr>
              <a:t>Comptage des doigts</a:t>
            </a:r>
            <a:endParaRPr lang="fr-FR" sz="22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017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accent6"/>
                </a:solidFill>
              </a:rPr>
              <a:t>Lever et baisser les doigts : le total s'affiche en direct, avec le compteur FPS.</a:t>
            </a:r>
            <a:endParaRPr lang="fr-FR" sz="1600" noProof="0" dirty="0"/>
          </a:p>
        </p:txBody>
      </p:sp>
      <p:sp>
        <p:nvSpPr>
          <p:cNvPr id="14" name="Carte démo 3"/>
          <p:cNvSpPr/>
          <p:nvPr/>
        </p:nvSpPr>
        <p:spPr>
          <a:xfrm>
            <a:off x="640080" y="4160520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Pastille 3"/>
          <p:cNvSpPr/>
          <p:nvPr/>
        </p:nvSpPr>
        <p:spPr>
          <a:xfrm>
            <a:off x="96012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Numéro 3"/>
          <p:cNvSpPr txBox="1"/>
          <p:nvPr/>
        </p:nvSpPr>
        <p:spPr>
          <a:xfrm>
            <a:off x="960120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FR" sz="24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526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chemeClr val="bg1"/>
                </a:solidFill>
              </a:rPr>
              <a:t>Effet de proximité</a:t>
            </a:r>
            <a:endParaRPr lang="fr-FR" sz="22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accent6"/>
                </a:solidFill>
              </a:rPr>
              <a:t>Rapprochement de deux bouts de doigts : trait dynamique, point d'impact et changement de couleur.</a:t>
            </a:r>
            <a:endParaRPr lang="fr-FR" sz="1600" noProof="0" dirty="0"/>
          </a:p>
        </p:txBody>
      </p:sp>
      <p:sp>
        <p:nvSpPr>
          <p:cNvPr id="19" name="Carte démo 4"/>
          <p:cNvSpPr/>
          <p:nvPr/>
        </p:nvSpPr>
        <p:spPr>
          <a:xfrm>
            <a:off x="6245352" y="4160520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Pastille 4"/>
          <p:cNvSpPr/>
          <p:nvPr/>
        </p:nvSpPr>
        <p:spPr>
          <a:xfrm>
            <a:off x="6565392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Numéro 4"/>
          <p:cNvSpPr txBox="1"/>
          <p:nvPr/>
        </p:nvSpPr>
        <p:spPr>
          <a:xfrm>
            <a:off x="6565392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fr-FR" sz="24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4526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chemeClr val="bg1"/>
                </a:solidFill>
              </a:rPr>
              <a:t>Deux mains &amp; gestes</a:t>
            </a:r>
            <a:endParaRPr lang="fr-FR" sz="22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600" noProof="0" dirty="0">
                <a:solidFill>
                  <a:schemeClr val="accent6"/>
                </a:solidFill>
              </a:rPr>
              <a:t>Test avec les deux mains simultanément puis différents gestes (like, </a:t>
            </a:r>
            <a:r>
              <a:rPr lang="fr-FR" sz="1600" noProof="0" dirty="0" err="1">
                <a:solidFill>
                  <a:schemeClr val="accent6"/>
                </a:solidFill>
              </a:rPr>
              <a:t>peace</a:t>
            </a:r>
            <a:r>
              <a:rPr lang="fr-FR" sz="1600" noProof="0" dirty="0">
                <a:solidFill>
                  <a:schemeClr val="accent6"/>
                </a:solidFill>
              </a:rPr>
              <a:t>, OK, …).</a:t>
            </a:r>
            <a:endParaRPr lang="fr-FR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fr-FR" b="0" noProof="0" smtClean="0"/>
              <a:t>6</a:t>
            </a:fld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d Tracking">
  <a:themeElements>
    <a:clrScheme name="Hand Tracking">
      <a:dk1>
        <a:srgbClr val="0F172A"/>
      </a:dk1>
      <a:lt1>
        <a:srgbClr val="FFFFFF"/>
      </a:lt1>
      <a:dk2>
        <a:srgbClr val="1E293B"/>
      </a:dk2>
      <a:lt2>
        <a:srgbClr val="EEF2F7"/>
      </a:lt2>
      <a:accent1>
        <a:srgbClr val="22C55E"/>
      </a:accent1>
      <a:accent2>
        <a:srgbClr val="EF4444"/>
      </a:accent2>
      <a:accent3>
        <a:srgbClr val="F59E0B"/>
      </a:accent3>
      <a:accent4>
        <a:srgbClr val="15803D"/>
      </a:accent4>
      <a:accent5>
        <a:srgbClr val="64748B"/>
      </a:accent5>
      <a:accent6>
        <a:srgbClr val="CBD5E1"/>
      </a:accent6>
      <a:hlink>
        <a:srgbClr val="38BDF8"/>
      </a:hlink>
      <a:folHlink>
        <a:srgbClr val="94A3B8"/>
      </a:folHlink>
    </a:clrScheme>
    <a:fontScheme name="Hand Trac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656</Words>
  <Application>Microsoft Office PowerPoint</Application>
  <PresentationFormat>Grand écran</PresentationFormat>
  <Paragraphs>81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Hand Tracking</vt:lpstr>
      <vt:lpstr>Estimation du squelette de la main et détection des doigts</vt:lpstr>
      <vt:lpstr>Présentation de l'application &amp; contexte</vt:lpstr>
      <vt:lpstr>Méthodologie : détection MediaPipe Tasks</vt:lpstr>
      <vt:lpstr>Méthodologie : squelette &amp; comptage des doigts</vt:lpstr>
      <vt:lpstr>Effet visuel de proximité entre extrémités</vt:lpstr>
      <vt:lpstr>Démonstration temps réel de la réalisation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TP4 — Détection de Squelette de Main &amp; Gestes</dc:title>
  <dc:subject>PptxGenJS Presentation</dc:subject>
  <dc:creator>Équipe projet — IUT de Saint-Dié-des-Vosges</dc:creator>
  <cp:lastModifiedBy>Valentin Hoja</cp:lastModifiedBy>
  <cp:revision>3</cp:revision>
  <dcterms:created xsi:type="dcterms:W3CDTF">2026-10-21T08:50:27Z</dcterms:created>
  <dcterms:modified xsi:type="dcterms:W3CDTF">2026-10-21T09:06:55Z</dcterms:modified>
</cp:coreProperties>
</file>